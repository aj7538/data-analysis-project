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3" r:id="rId21"/>
    <p:sldId id="275" r:id="rId22"/>
    <p:sldId id="276" r:id="rId23"/>
    <p:sldId id="277" r:id="rId24"/>
    <p:sldId id="278"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CE2138-53F9-4E37-B565-A05E923D6762}">
          <p14:sldIdLst>
            <p14:sldId id="257"/>
            <p14:sldId id="259"/>
            <p14:sldId id="260"/>
            <p14:sldId id="261"/>
            <p14:sldId id="262"/>
            <p14:sldId id="263"/>
            <p14:sldId id="264"/>
            <p14:sldId id="265"/>
            <p14:sldId id="266"/>
            <p14:sldId id="267"/>
            <p14:sldId id="268"/>
            <p14:sldId id="269"/>
            <p14:sldId id="270"/>
            <p14:sldId id="271"/>
            <p14:sldId id="272"/>
            <p14:sldId id="274"/>
            <p14:sldId id="273"/>
            <p14:sldId id="275"/>
            <p14:sldId id="276"/>
            <p14:sldId id="277"/>
            <p14:sldId id="278"/>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9" d="100"/>
          <a:sy n="89" d="100"/>
        </p:scale>
        <p:origin x="4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6/23/2025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6/23/2025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6/23/2025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6/23/2025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6/23/2025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6/23/2025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6/23/2025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6/23/2025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6/23/2025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6/23/2025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6/23/2025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6/23/2025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YouTube </a:t>
            </a:r>
            <a:r>
              <a:rPr lang="en-US" dirty="0"/>
              <a:t>Statistics Analysis</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BY: Ayaz Jamani</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154C-1899-674C-D07F-BDD0E5AB22F1}"/>
              </a:ext>
            </a:extLst>
          </p:cNvPr>
          <p:cNvSpPr>
            <a:spLocks noGrp="1"/>
          </p:cNvSpPr>
          <p:nvPr>
            <p:ph type="title"/>
          </p:nvPr>
        </p:nvSpPr>
        <p:spPr/>
        <p:txBody>
          <a:bodyPr>
            <a:noAutofit/>
          </a:bodyPr>
          <a:lstStyle/>
          <a:p>
            <a:r>
              <a:rPr lang="en-US" sz="3600" dirty="0"/>
              <a:t>Top 10 YouTube channels based on the number of subscribers</a:t>
            </a:r>
          </a:p>
        </p:txBody>
      </p:sp>
      <p:graphicFrame>
        <p:nvGraphicFramePr>
          <p:cNvPr id="4" name="Table 3">
            <a:extLst>
              <a:ext uri="{FF2B5EF4-FFF2-40B4-BE49-F238E27FC236}">
                <a16:creationId xmlns:a16="http://schemas.microsoft.com/office/drawing/2014/main" id="{7E156A7D-5A97-6BA0-FFDA-5501B492B27D}"/>
              </a:ext>
            </a:extLst>
          </p:cNvPr>
          <p:cNvGraphicFramePr>
            <a:graphicFrameLocks noGrp="1"/>
          </p:cNvGraphicFramePr>
          <p:nvPr>
            <p:extLst>
              <p:ext uri="{D42A27DB-BD31-4B8C-83A1-F6EECF244321}">
                <p14:modId xmlns:p14="http://schemas.microsoft.com/office/powerpoint/2010/main" val="3686521768"/>
              </p:ext>
            </p:extLst>
          </p:nvPr>
        </p:nvGraphicFramePr>
        <p:xfrm>
          <a:off x="1425178" y="2093558"/>
          <a:ext cx="9401970" cy="3805312"/>
        </p:xfrm>
        <a:graphic>
          <a:graphicData uri="http://schemas.openxmlformats.org/drawingml/2006/table">
            <a:tbl>
              <a:tblPr/>
              <a:tblGrid>
                <a:gridCol w="3133990">
                  <a:extLst>
                    <a:ext uri="{9D8B030D-6E8A-4147-A177-3AD203B41FA5}">
                      <a16:colId xmlns:a16="http://schemas.microsoft.com/office/drawing/2014/main" val="1065632468"/>
                    </a:ext>
                  </a:extLst>
                </a:gridCol>
                <a:gridCol w="3133990">
                  <a:extLst>
                    <a:ext uri="{9D8B030D-6E8A-4147-A177-3AD203B41FA5}">
                      <a16:colId xmlns:a16="http://schemas.microsoft.com/office/drawing/2014/main" val="3697111123"/>
                    </a:ext>
                  </a:extLst>
                </a:gridCol>
                <a:gridCol w="3133990">
                  <a:extLst>
                    <a:ext uri="{9D8B030D-6E8A-4147-A177-3AD203B41FA5}">
                      <a16:colId xmlns:a16="http://schemas.microsoft.com/office/drawing/2014/main" val="1424026300"/>
                    </a:ext>
                  </a:extLst>
                </a:gridCol>
              </a:tblGrid>
              <a:tr h="341890">
                <a:tc>
                  <a:txBody>
                    <a:bodyPr/>
                    <a:lstStyle/>
                    <a:p>
                      <a:pPr algn="ctr"/>
                      <a:r>
                        <a:rPr lang="en-US" sz="1800" b="1" dirty="0"/>
                        <a:t>Rank</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a:t>Channel Name</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dirty="0"/>
                        <a:t>Subscribers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3351312"/>
                  </a:ext>
                </a:extLst>
              </a:tr>
              <a:tr h="341890">
                <a:tc>
                  <a:txBody>
                    <a:bodyPr/>
                    <a:lstStyle/>
                    <a:p>
                      <a:pPr algn="ctr"/>
                      <a:r>
                        <a:rPr lang="en-US" sz="1700"/>
                        <a:t>1</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T-Series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245,000,000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90183"/>
                  </a:ext>
                </a:extLst>
              </a:tr>
              <a:tr h="341890">
                <a:tc>
                  <a:txBody>
                    <a:bodyPr/>
                    <a:lstStyle/>
                    <a:p>
                      <a:pPr algn="ctr"/>
                      <a:r>
                        <a:rPr lang="en-US" sz="1700"/>
                        <a:t>2</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YouTube Movies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170,000,000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700060"/>
                  </a:ext>
                </a:extLst>
              </a:tr>
              <a:tr h="341890">
                <a:tc>
                  <a:txBody>
                    <a:bodyPr/>
                    <a:lstStyle/>
                    <a:p>
                      <a:pPr algn="ctr"/>
                      <a:r>
                        <a:rPr lang="en-US" sz="1700"/>
                        <a:t>3</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MrBeast</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166,000,000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1036495"/>
                  </a:ext>
                </a:extLst>
              </a:tr>
              <a:tr h="341890">
                <a:tc>
                  <a:txBody>
                    <a:bodyPr/>
                    <a:lstStyle/>
                    <a:p>
                      <a:pPr algn="ctr"/>
                      <a:r>
                        <a:rPr lang="en-US" sz="1700"/>
                        <a:t>4</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Cocomelon - Nursery Rhymes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162,000,000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6382852"/>
                  </a:ext>
                </a:extLst>
              </a:tr>
              <a:tr h="341890">
                <a:tc>
                  <a:txBody>
                    <a:bodyPr/>
                    <a:lstStyle/>
                    <a:p>
                      <a:pPr algn="ctr"/>
                      <a:r>
                        <a:rPr lang="en-US" sz="1700"/>
                        <a:t>5</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SET India</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159,000,000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875802"/>
                  </a:ext>
                </a:extLst>
              </a:tr>
              <a:tr h="341890">
                <a:tc>
                  <a:txBody>
                    <a:bodyPr/>
                    <a:lstStyle/>
                    <a:p>
                      <a:pPr algn="ctr"/>
                      <a:r>
                        <a:rPr lang="en-US" sz="1700"/>
                        <a:t>6</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Music</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119,000,000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4376233"/>
                  </a:ext>
                </a:extLst>
              </a:tr>
              <a:tr h="341890">
                <a:tc>
                  <a:txBody>
                    <a:bodyPr/>
                    <a:lstStyle/>
                    <a:p>
                      <a:pPr algn="ctr"/>
                      <a:r>
                        <a:rPr lang="en-US" sz="1700"/>
                        <a:t>7</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Kids Diana Show</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112,000,000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5215446"/>
                  </a:ext>
                </a:extLst>
              </a:tr>
              <a:tr h="341890">
                <a:tc>
                  <a:txBody>
                    <a:bodyPr/>
                    <a:lstStyle/>
                    <a:p>
                      <a:pPr algn="ctr"/>
                      <a:r>
                        <a:rPr lang="en-US" sz="1700"/>
                        <a:t>8</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PewDiePie</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111,000,000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2346769"/>
                  </a:ext>
                </a:extLst>
              </a:tr>
              <a:tr h="341890">
                <a:tc>
                  <a:txBody>
                    <a:bodyPr/>
                    <a:lstStyle/>
                    <a:p>
                      <a:pPr algn="ctr"/>
                      <a:r>
                        <a:rPr lang="en-US" sz="1700"/>
                        <a:t>9</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Like Nastya</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106,000,000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3830441"/>
                  </a:ext>
                </a:extLst>
              </a:tr>
              <a:tr h="341890">
                <a:tc>
                  <a:txBody>
                    <a:bodyPr/>
                    <a:lstStyle/>
                    <a:p>
                      <a:pPr algn="ctr"/>
                      <a:r>
                        <a:rPr lang="en-US" sz="1700" dirty="0"/>
                        <a:t>10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t>Vlad and Niki</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t>98,900,000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2883931"/>
                  </a:ext>
                </a:extLst>
              </a:tr>
            </a:tbl>
          </a:graphicData>
        </a:graphic>
      </p:graphicFrame>
    </p:spTree>
    <p:extLst>
      <p:ext uri="{BB962C8B-B14F-4D97-AF65-F5344CB8AC3E}">
        <p14:creationId xmlns:p14="http://schemas.microsoft.com/office/powerpoint/2010/main" val="7869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DD43D-3ECE-5A76-AEBC-7A4C48D749BA}"/>
              </a:ext>
            </a:extLst>
          </p:cNvPr>
          <p:cNvSpPr>
            <a:spLocks noGrp="1"/>
          </p:cNvSpPr>
          <p:nvPr>
            <p:ph type="title"/>
          </p:nvPr>
        </p:nvSpPr>
        <p:spPr/>
        <p:txBody>
          <a:bodyPr>
            <a:normAutofit/>
          </a:bodyPr>
          <a:lstStyle/>
          <a:p>
            <a:r>
              <a:rPr lang="en-US" sz="3600" dirty="0"/>
              <a:t>Category which has the highest average number of subscribers</a:t>
            </a:r>
          </a:p>
        </p:txBody>
      </p:sp>
      <p:graphicFrame>
        <p:nvGraphicFramePr>
          <p:cNvPr id="4" name="Content Placeholder 3">
            <a:extLst>
              <a:ext uri="{FF2B5EF4-FFF2-40B4-BE49-F238E27FC236}">
                <a16:creationId xmlns:a16="http://schemas.microsoft.com/office/drawing/2014/main" id="{77E866E9-1B58-FFD2-6353-369281A95009}"/>
              </a:ext>
            </a:extLst>
          </p:cNvPr>
          <p:cNvGraphicFramePr>
            <a:graphicFrameLocks noGrp="1"/>
          </p:cNvGraphicFramePr>
          <p:nvPr>
            <p:ph idx="1"/>
            <p:extLst>
              <p:ext uri="{D42A27DB-BD31-4B8C-83A1-F6EECF244321}">
                <p14:modId xmlns:p14="http://schemas.microsoft.com/office/powerpoint/2010/main" val="2856914781"/>
              </p:ext>
            </p:extLst>
          </p:nvPr>
        </p:nvGraphicFramePr>
        <p:xfrm>
          <a:off x="1097280" y="3141767"/>
          <a:ext cx="10337322" cy="1044058"/>
        </p:xfrm>
        <a:graphic>
          <a:graphicData uri="http://schemas.openxmlformats.org/drawingml/2006/table">
            <a:tbl>
              <a:tblPr/>
              <a:tblGrid>
                <a:gridCol w="5168661">
                  <a:extLst>
                    <a:ext uri="{9D8B030D-6E8A-4147-A177-3AD203B41FA5}">
                      <a16:colId xmlns:a16="http://schemas.microsoft.com/office/drawing/2014/main" val="1699024355"/>
                    </a:ext>
                  </a:extLst>
                </a:gridCol>
                <a:gridCol w="5168661">
                  <a:extLst>
                    <a:ext uri="{9D8B030D-6E8A-4147-A177-3AD203B41FA5}">
                      <a16:colId xmlns:a16="http://schemas.microsoft.com/office/drawing/2014/main" val="3901670241"/>
                    </a:ext>
                  </a:extLst>
                </a:gridCol>
              </a:tblGrid>
              <a:tr h="522029">
                <a:tc>
                  <a:txBody>
                    <a:bodyPr/>
                    <a:lstStyle/>
                    <a:p>
                      <a:pPr algn="ctr"/>
                      <a:r>
                        <a:rPr lang="en-US" sz="2800" b="1" dirty="0"/>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1" dirty="0"/>
                        <a:t>Average Subscribers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0469303"/>
                  </a:ext>
                </a:extLst>
              </a:tr>
              <a:tr h="522029">
                <a:tc>
                  <a:txBody>
                    <a:bodyPr/>
                    <a:lstStyle/>
                    <a:p>
                      <a:pPr algn="ctr"/>
                      <a:r>
                        <a:rPr lang="en-US" dirty="0"/>
                        <a:t>Shows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41,615,380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282780"/>
                  </a:ext>
                </a:extLst>
              </a:tr>
            </a:tbl>
          </a:graphicData>
        </a:graphic>
      </p:graphicFrame>
      <p:sp>
        <p:nvSpPr>
          <p:cNvPr id="5" name="Title 1">
            <a:extLst>
              <a:ext uri="{FF2B5EF4-FFF2-40B4-BE49-F238E27FC236}">
                <a16:creationId xmlns:a16="http://schemas.microsoft.com/office/drawing/2014/main" id="{002507B7-BB6A-342F-8792-C826FB9DF7B4}"/>
              </a:ext>
            </a:extLst>
          </p:cNvPr>
          <p:cNvSpPr txBox="1">
            <a:spLocks/>
          </p:cNvSpPr>
          <p:nvPr/>
        </p:nvSpPr>
        <p:spPr>
          <a:xfrm>
            <a:off x="1097280" y="4715515"/>
            <a:ext cx="10058400" cy="87471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sz="2800" dirty="0">
                <a:solidFill>
                  <a:schemeClr val="tx1"/>
                </a:solidFill>
                <a:latin typeface="+mn-lt"/>
              </a:rPr>
              <a:t>The shows category has the highest average subscribers present in the given dataset.</a:t>
            </a:r>
          </a:p>
        </p:txBody>
      </p:sp>
    </p:spTree>
    <p:extLst>
      <p:ext uri="{BB962C8B-B14F-4D97-AF65-F5344CB8AC3E}">
        <p14:creationId xmlns:p14="http://schemas.microsoft.com/office/powerpoint/2010/main" val="258165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505F6-1428-67DD-7AB2-7A8B4183D410}"/>
              </a:ext>
            </a:extLst>
          </p:cNvPr>
          <p:cNvSpPr>
            <a:spLocks noGrp="1"/>
          </p:cNvSpPr>
          <p:nvPr>
            <p:ph type="title"/>
          </p:nvPr>
        </p:nvSpPr>
        <p:spPr>
          <a:xfrm>
            <a:off x="1116259" y="251613"/>
            <a:ext cx="10058400" cy="1201075"/>
          </a:xfrm>
        </p:spPr>
        <p:txBody>
          <a:bodyPr>
            <a:normAutofit/>
          </a:bodyPr>
          <a:lstStyle/>
          <a:p>
            <a:r>
              <a:rPr lang="en-US" sz="3600" dirty="0"/>
              <a:t>Average number of videos uploaded by YouTube channels in each category?</a:t>
            </a:r>
          </a:p>
        </p:txBody>
      </p:sp>
      <p:graphicFrame>
        <p:nvGraphicFramePr>
          <p:cNvPr id="4" name="Content Placeholder 3">
            <a:extLst>
              <a:ext uri="{FF2B5EF4-FFF2-40B4-BE49-F238E27FC236}">
                <a16:creationId xmlns:a16="http://schemas.microsoft.com/office/drawing/2014/main" id="{45DB3DDB-477F-9C8F-2321-1B1CF7480780}"/>
              </a:ext>
            </a:extLst>
          </p:cNvPr>
          <p:cNvGraphicFramePr>
            <a:graphicFrameLocks noGrp="1"/>
          </p:cNvGraphicFramePr>
          <p:nvPr>
            <p:ph idx="1"/>
            <p:extLst>
              <p:ext uri="{D42A27DB-BD31-4B8C-83A1-F6EECF244321}">
                <p14:modId xmlns:p14="http://schemas.microsoft.com/office/powerpoint/2010/main" val="3159393279"/>
              </p:ext>
            </p:extLst>
          </p:nvPr>
        </p:nvGraphicFramePr>
        <p:xfrm>
          <a:off x="1107633" y="1639379"/>
          <a:ext cx="10058400" cy="4445396"/>
        </p:xfrm>
        <a:graphic>
          <a:graphicData uri="http://schemas.openxmlformats.org/drawingml/2006/table">
            <a:tbl>
              <a:tblPr/>
              <a:tblGrid>
                <a:gridCol w="3352800">
                  <a:extLst>
                    <a:ext uri="{9D8B030D-6E8A-4147-A177-3AD203B41FA5}">
                      <a16:colId xmlns:a16="http://schemas.microsoft.com/office/drawing/2014/main" val="3716236686"/>
                    </a:ext>
                  </a:extLst>
                </a:gridCol>
                <a:gridCol w="3352800">
                  <a:extLst>
                    <a:ext uri="{9D8B030D-6E8A-4147-A177-3AD203B41FA5}">
                      <a16:colId xmlns:a16="http://schemas.microsoft.com/office/drawing/2014/main" val="1921086920"/>
                    </a:ext>
                  </a:extLst>
                </a:gridCol>
                <a:gridCol w="3352800">
                  <a:extLst>
                    <a:ext uri="{9D8B030D-6E8A-4147-A177-3AD203B41FA5}">
                      <a16:colId xmlns:a16="http://schemas.microsoft.com/office/drawing/2014/main" val="3033995045"/>
                    </a:ext>
                  </a:extLst>
                </a:gridCol>
              </a:tblGrid>
              <a:tr h="197936">
                <a:tc>
                  <a:txBody>
                    <a:bodyPr/>
                    <a:lstStyle/>
                    <a:p>
                      <a:pPr algn="ctr"/>
                      <a:r>
                        <a:rPr lang="en-US" sz="1400" b="1">
                          <a:solidFill>
                            <a:schemeClr val="tx1"/>
                          </a:solidFill>
                        </a:rPr>
                        <a:t>Rank</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a:solidFill>
                            <a:schemeClr val="tx1"/>
                          </a:solidFill>
                        </a:rPr>
                        <a:t>Category</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solidFill>
                            <a:schemeClr val="tx1"/>
                          </a:solidFill>
                        </a:rPr>
                        <a:t>Average Uploads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844298"/>
                  </a:ext>
                </a:extLst>
              </a:tr>
              <a:tr h="197936">
                <a:tc>
                  <a:txBody>
                    <a:bodyPr/>
                    <a:lstStyle/>
                    <a:p>
                      <a:pPr algn="ctr"/>
                      <a:r>
                        <a:rPr lang="en-US" sz="1200" b="0"/>
                        <a:t>1</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News &amp; Politics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112,484</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5867957"/>
                  </a:ext>
                </a:extLst>
              </a:tr>
              <a:tr h="197936">
                <a:tc>
                  <a:txBody>
                    <a:bodyPr/>
                    <a:lstStyle/>
                    <a:p>
                      <a:pPr algn="ctr"/>
                      <a:r>
                        <a:rPr lang="en-US" sz="1200" b="0"/>
                        <a:t>2</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t>Nonprofits &amp; Activism</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102,912</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5276744"/>
                  </a:ext>
                </a:extLst>
              </a:tr>
              <a:tr h="197936">
                <a:tc>
                  <a:txBody>
                    <a:bodyPr/>
                    <a:lstStyle/>
                    <a:p>
                      <a:pPr algn="ctr"/>
                      <a:r>
                        <a:rPr lang="en-US" sz="1200" b="0"/>
                        <a:t>3</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t>Shows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27,444</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4931183"/>
                  </a:ext>
                </a:extLst>
              </a:tr>
              <a:tr h="197936">
                <a:tc>
                  <a:txBody>
                    <a:bodyPr/>
                    <a:lstStyle/>
                    <a:p>
                      <a:pPr algn="ctr"/>
                      <a:r>
                        <a:rPr lang="en-US" sz="1200" b="0"/>
                        <a:t>4</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Sports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t>19,130</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0187296"/>
                  </a:ext>
                </a:extLst>
              </a:tr>
              <a:tr h="197936">
                <a:tc>
                  <a:txBody>
                    <a:bodyPr/>
                    <a:lstStyle/>
                    <a:p>
                      <a:pPr algn="ctr"/>
                      <a:r>
                        <a:rPr lang="en-US" sz="1200" b="0"/>
                        <a:t>5</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Entertainment</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12,052</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42020"/>
                  </a:ext>
                </a:extLst>
              </a:tr>
              <a:tr h="197936">
                <a:tc>
                  <a:txBody>
                    <a:bodyPr/>
                    <a:lstStyle/>
                    <a:p>
                      <a:pPr algn="ctr"/>
                      <a:r>
                        <a:rPr lang="en-US" sz="1200" b="0"/>
                        <a:t>6</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People &amp; Blogs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9,257</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721056"/>
                  </a:ext>
                </a:extLst>
              </a:tr>
              <a:tr h="197936">
                <a:tc>
                  <a:txBody>
                    <a:bodyPr/>
                    <a:lstStyle/>
                    <a:p>
                      <a:pPr algn="ctr"/>
                      <a:r>
                        <a:rPr lang="en-US" sz="1200" b="0"/>
                        <a:t>7</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Trailers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6,839</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3483467"/>
                  </a:ext>
                </a:extLst>
              </a:tr>
              <a:tr h="197936">
                <a:tc>
                  <a:txBody>
                    <a:bodyPr/>
                    <a:lstStyle/>
                    <a:p>
                      <a:pPr algn="ctr"/>
                      <a:r>
                        <a:rPr lang="en-US" sz="1200" b="0"/>
                        <a:t>8</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Gaming</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4,285</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7925517"/>
                  </a:ext>
                </a:extLst>
              </a:tr>
              <a:tr h="197936">
                <a:tc>
                  <a:txBody>
                    <a:bodyPr/>
                    <a:lstStyle/>
                    <a:p>
                      <a:pPr algn="ctr"/>
                      <a:r>
                        <a:rPr lang="en-US" sz="1200" b="0"/>
                        <a:t>9</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Pets &amp; Animals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3,563</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242802"/>
                  </a:ext>
                </a:extLst>
              </a:tr>
              <a:tr h="197936">
                <a:tc>
                  <a:txBody>
                    <a:bodyPr/>
                    <a:lstStyle/>
                    <a:p>
                      <a:pPr algn="ctr"/>
                      <a:r>
                        <a:rPr lang="en-US" sz="1200" b="0"/>
                        <a:t>10</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Movies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3,553</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3001322"/>
                  </a:ext>
                </a:extLst>
              </a:tr>
              <a:tr h="197936">
                <a:tc>
                  <a:txBody>
                    <a:bodyPr/>
                    <a:lstStyle/>
                    <a:p>
                      <a:pPr algn="ctr"/>
                      <a:r>
                        <a:rPr lang="en-US" sz="1200" b="0"/>
                        <a:t>11</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Education</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3,087</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5481234"/>
                  </a:ext>
                </a:extLst>
              </a:tr>
              <a:tr h="197936">
                <a:tc>
                  <a:txBody>
                    <a:bodyPr/>
                    <a:lstStyle/>
                    <a:p>
                      <a:pPr algn="ctr"/>
                      <a:r>
                        <a:rPr lang="en-US" sz="1200" b="0"/>
                        <a:t>12</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Film &amp; Animation</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2,862</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614862"/>
                  </a:ext>
                </a:extLst>
              </a:tr>
              <a:tr h="197936">
                <a:tc>
                  <a:txBody>
                    <a:bodyPr/>
                    <a:lstStyle/>
                    <a:p>
                      <a:pPr algn="ctr"/>
                      <a:r>
                        <a:rPr lang="en-US" sz="1200" b="0"/>
                        <a:t>13</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Music</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2,326</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5243995"/>
                  </a:ext>
                </a:extLst>
              </a:tr>
              <a:tr h="197936">
                <a:tc>
                  <a:txBody>
                    <a:bodyPr/>
                    <a:lstStyle/>
                    <a:p>
                      <a:pPr algn="ctr"/>
                      <a:r>
                        <a:rPr lang="en-US" sz="1200" b="0"/>
                        <a:t>14</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Science &amp; Technology</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2,114</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3821557"/>
                  </a:ext>
                </a:extLst>
              </a:tr>
              <a:tr h="197936">
                <a:tc>
                  <a:txBody>
                    <a:bodyPr/>
                    <a:lstStyle/>
                    <a:p>
                      <a:pPr algn="ctr"/>
                      <a:r>
                        <a:rPr lang="en-US" sz="1200" b="0"/>
                        <a:t>15</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Howto &amp; Style</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1,696</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221875"/>
                  </a:ext>
                </a:extLst>
              </a:tr>
              <a:tr h="197936">
                <a:tc>
                  <a:txBody>
                    <a:bodyPr/>
                    <a:lstStyle/>
                    <a:p>
                      <a:pPr algn="ctr"/>
                      <a:r>
                        <a:rPr lang="en-US" sz="1200" b="0"/>
                        <a:t>16</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Autos &amp; Vehicles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1,551</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9390221"/>
                  </a:ext>
                </a:extLst>
              </a:tr>
              <a:tr h="197936">
                <a:tc>
                  <a:txBody>
                    <a:bodyPr/>
                    <a:lstStyle/>
                    <a:p>
                      <a:pPr algn="ctr"/>
                      <a:r>
                        <a:rPr lang="en-US" sz="1200" b="0"/>
                        <a:t>17</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Comedy</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t>1,203</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8710929"/>
                  </a:ext>
                </a:extLst>
              </a:tr>
              <a:tr h="197936">
                <a:tc>
                  <a:txBody>
                    <a:bodyPr/>
                    <a:lstStyle/>
                    <a:p>
                      <a:pPr algn="ctr"/>
                      <a:r>
                        <a:rPr lang="en-US" sz="1200" b="0" dirty="0"/>
                        <a:t>18</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t>Travel &amp; Events</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t>766</a:t>
                      </a:r>
                    </a:p>
                  </a:txBody>
                  <a:tcPr marL="49484" marR="49484" marT="24742" marB="24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7614011"/>
                  </a:ext>
                </a:extLst>
              </a:tr>
            </a:tbl>
          </a:graphicData>
        </a:graphic>
      </p:graphicFrame>
    </p:spTree>
    <p:extLst>
      <p:ext uri="{BB962C8B-B14F-4D97-AF65-F5344CB8AC3E}">
        <p14:creationId xmlns:p14="http://schemas.microsoft.com/office/powerpoint/2010/main" val="342326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0595-7B56-B016-8B77-5636C54DB884}"/>
              </a:ext>
            </a:extLst>
          </p:cNvPr>
          <p:cNvSpPr>
            <a:spLocks noGrp="1"/>
          </p:cNvSpPr>
          <p:nvPr>
            <p:ph type="title"/>
          </p:nvPr>
        </p:nvSpPr>
        <p:spPr/>
        <p:txBody>
          <a:bodyPr>
            <a:normAutofit/>
          </a:bodyPr>
          <a:lstStyle/>
          <a:p>
            <a:r>
              <a:rPr lang="en-US" sz="3600" dirty="0"/>
              <a:t>Top 5 countries with the highest number of YouTube channels</a:t>
            </a:r>
          </a:p>
        </p:txBody>
      </p:sp>
      <p:graphicFrame>
        <p:nvGraphicFramePr>
          <p:cNvPr id="4" name="Content Placeholder 3">
            <a:extLst>
              <a:ext uri="{FF2B5EF4-FFF2-40B4-BE49-F238E27FC236}">
                <a16:creationId xmlns:a16="http://schemas.microsoft.com/office/drawing/2014/main" id="{736BA336-FBBB-9029-89E6-9D0E28B3FB74}"/>
              </a:ext>
            </a:extLst>
          </p:cNvPr>
          <p:cNvGraphicFramePr>
            <a:graphicFrameLocks noGrp="1"/>
          </p:cNvGraphicFramePr>
          <p:nvPr>
            <p:ph idx="1"/>
            <p:extLst>
              <p:ext uri="{D42A27DB-BD31-4B8C-83A1-F6EECF244321}">
                <p14:modId xmlns:p14="http://schemas.microsoft.com/office/powerpoint/2010/main" val="1511500836"/>
              </p:ext>
            </p:extLst>
          </p:nvPr>
        </p:nvGraphicFramePr>
        <p:xfrm>
          <a:off x="1066800" y="1899280"/>
          <a:ext cx="10058400" cy="2225040"/>
        </p:xfrm>
        <a:graphic>
          <a:graphicData uri="http://schemas.openxmlformats.org/drawingml/2006/table">
            <a:tbl>
              <a:tblPr/>
              <a:tblGrid>
                <a:gridCol w="3352800">
                  <a:extLst>
                    <a:ext uri="{9D8B030D-6E8A-4147-A177-3AD203B41FA5}">
                      <a16:colId xmlns:a16="http://schemas.microsoft.com/office/drawing/2014/main" val="812782247"/>
                    </a:ext>
                  </a:extLst>
                </a:gridCol>
                <a:gridCol w="3352800">
                  <a:extLst>
                    <a:ext uri="{9D8B030D-6E8A-4147-A177-3AD203B41FA5}">
                      <a16:colId xmlns:a16="http://schemas.microsoft.com/office/drawing/2014/main" val="4174963710"/>
                    </a:ext>
                  </a:extLst>
                </a:gridCol>
                <a:gridCol w="3352800">
                  <a:extLst>
                    <a:ext uri="{9D8B030D-6E8A-4147-A177-3AD203B41FA5}">
                      <a16:colId xmlns:a16="http://schemas.microsoft.com/office/drawing/2014/main" val="2424777215"/>
                    </a:ext>
                  </a:extLst>
                </a:gridCol>
              </a:tblGrid>
              <a:tr h="0">
                <a:tc>
                  <a:txBody>
                    <a:bodyPr/>
                    <a:lstStyle/>
                    <a:p>
                      <a:pPr algn="ctr"/>
                      <a:r>
                        <a:rPr lang="en-US" sz="2000" b="1">
                          <a:solidFill>
                            <a:schemeClr val="tx1"/>
                          </a:solidFill>
                        </a:rPr>
                        <a:t>Rank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a:solidFill>
                            <a:schemeClr val="tx1"/>
                          </a:solidFill>
                        </a:rPr>
                        <a:t>Country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solidFill>
                            <a:schemeClr val="tx1"/>
                          </a:solidFill>
                        </a:rPr>
                        <a:t>Number of Channels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873741"/>
                  </a:ext>
                </a:extLst>
              </a:tr>
              <a:tr h="0">
                <a:tc>
                  <a:txBody>
                    <a:bodyPr/>
                    <a:lstStyle/>
                    <a:p>
                      <a:pPr algn="ctr"/>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United States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315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0893117"/>
                  </a:ext>
                </a:extLst>
              </a:tr>
              <a:tr h="0">
                <a:tc>
                  <a:txBody>
                    <a:bodyPr/>
                    <a:lstStyle/>
                    <a:p>
                      <a:pPr algn="ctr"/>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India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169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13397"/>
                  </a:ext>
                </a:extLst>
              </a:tr>
              <a:tr h="0">
                <a:tc>
                  <a:txBody>
                    <a:bodyPr/>
                    <a:lstStyle/>
                    <a:p>
                      <a:pPr algn="ctr"/>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Brazil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280317"/>
                  </a:ext>
                </a:extLst>
              </a:tr>
              <a:tr h="0">
                <a:tc>
                  <a:txBody>
                    <a:bodyPr/>
                    <a:lstStyle/>
                    <a:p>
                      <a:pPr algn="ctr"/>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United Kingdom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2122231"/>
                  </a:ext>
                </a:extLst>
              </a:tr>
              <a:tr h="0">
                <a:tc>
                  <a:txBody>
                    <a:bodyPr/>
                    <a:lstStyle/>
                    <a:p>
                      <a:pPr algn="ctr"/>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t>Mexico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3400433"/>
                  </a:ext>
                </a:extLst>
              </a:tr>
            </a:tbl>
          </a:graphicData>
        </a:graphic>
      </p:graphicFrame>
      <p:sp>
        <p:nvSpPr>
          <p:cNvPr id="5" name="Title 1">
            <a:extLst>
              <a:ext uri="{FF2B5EF4-FFF2-40B4-BE49-F238E27FC236}">
                <a16:creationId xmlns:a16="http://schemas.microsoft.com/office/drawing/2014/main" id="{082A98B8-D66B-78E3-52A8-5DA4EFD08746}"/>
              </a:ext>
            </a:extLst>
          </p:cNvPr>
          <p:cNvSpPr txBox="1">
            <a:spLocks/>
          </p:cNvSpPr>
          <p:nvPr/>
        </p:nvSpPr>
        <p:spPr>
          <a:xfrm>
            <a:off x="1066800" y="4770407"/>
            <a:ext cx="10058400" cy="81176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sz="2400" dirty="0">
                <a:solidFill>
                  <a:schemeClr val="tx1"/>
                </a:solidFill>
                <a:latin typeface="+mn-lt"/>
              </a:rPr>
              <a:t>United States has the highest number of YouTube channels followed by India, Brazil, UK and Mexico.</a:t>
            </a:r>
          </a:p>
        </p:txBody>
      </p:sp>
    </p:spTree>
    <p:extLst>
      <p:ext uri="{BB962C8B-B14F-4D97-AF65-F5344CB8AC3E}">
        <p14:creationId xmlns:p14="http://schemas.microsoft.com/office/powerpoint/2010/main" val="1806114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25D5974-4019-3610-5514-E3D7DF6A6CD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68020" y="2268746"/>
            <a:ext cx="5883288" cy="3165895"/>
          </a:xfrm>
        </p:spPr>
      </p:pic>
      <p:sp>
        <p:nvSpPr>
          <p:cNvPr id="4" name="Content Placeholder 3">
            <a:extLst>
              <a:ext uri="{FF2B5EF4-FFF2-40B4-BE49-F238E27FC236}">
                <a16:creationId xmlns:a16="http://schemas.microsoft.com/office/drawing/2014/main" id="{C3C2A613-73E9-05D0-459B-03FE40A4B25C}"/>
              </a:ext>
            </a:extLst>
          </p:cNvPr>
          <p:cNvSpPr>
            <a:spLocks noGrp="1"/>
          </p:cNvSpPr>
          <p:nvPr>
            <p:ph sz="half" idx="2"/>
          </p:nvPr>
        </p:nvSpPr>
        <p:spPr/>
        <p:txBody>
          <a:bodyPr/>
          <a:lstStyle/>
          <a:p>
            <a:pPr marL="457200" indent="-457200">
              <a:buClr>
                <a:schemeClr val="tx1"/>
              </a:buClr>
              <a:buFont typeface="+mj-lt"/>
              <a:buAutoNum type="arabicPeriod"/>
            </a:pPr>
            <a:r>
              <a:rPr lang="en-US" sz="1800" dirty="0">
                <a:solidFill>
                  <a:schemeClr val="tx1"/>
                </a:solidFill>
              </a:rPr>
              <a:t>Entertainment and Music categories have the highest number of channels.</a:t>
            </a:r>
          </a:p>
          <a:p>
            <a:pPr marL="457200" indent="-457200">
              <a:buClr>
                <a:schemeClr val="tx1"/>
              </a:buClr>
              <a:buFont typeface="+mj-lt"/>
              <a:buAutoNum type="arabicPeriod"/>
            </a:pPr>
            <a:r>
              <a:rPr lang="en-US" sz="1800" dirty="0">
                <a:solidFill>
                  <a:schemeClr val="tx1"/>
                </a:solidFill>
              </a:rPr>
              <a:t>The Entertainment category has a large and diverse mix of content such as Entertainment, Games, and Music.</a:t>
            </a:r>
          </a:p>
          <a:p>
            <a:pPr marL="457200" indent="-457200">
              <a:buClr>
                <a:schemeClr val="tx1"/>
              </a:buClr>
              <a:buFont typeface="+mj-lt"/>
              <a:buAutoNum type="arabicPeriod"/>
            </a:pPr>
            <a:r>
              <a:rPr lang="en-US" sz="1800" dirty="0">
                <a:solidFill>
                  <a:schemeClr val="tx1"/>
                </a:solidFill>
              </a:rPr>
              <a:t>Categories such as Nonprofits &amp; Activism or Travel &amp; Events have lower creator engagement, possibly indicating less competition or lower viewer demand.</a:t>
            </a:r>
          </a:p>
          <a:p>
            <a:pPr marL="457200" indent="-457200">
              <a:buFont typeface="+mj-lt"/>
              <a:buAutoNum type="arabicPeriod"/>
            </a:pPr>
            <a:endParaRPr lang="en-US" dirty="0"/>
          </a:p>
        </p:txBody>
      </p:sp>
      <p:sp>
        <p:nvSpPr>
          <p:cNvPr id="5" name="Title 1">
            <a:extLst>
              <a:ext uri="{FF2B5EF4-FFF2-40B4-BE49-F238E27FC236}">
                <a16:creationId xmlns:a16="http://schemas.microsoft.com/office/drawing/2014/main" id="{0F7FCB17-9F3A-984F-15F0-941E357833DD}"/>
              </a:ext>
            </a:extLst>
          </p:cNvPr>
          <p:cNvSpPr>
            <a:spLocks noGrp="1"/>
          </p:cNvSpPr>
          <p:nvPr>
            <p:ph type="title"/>
          </p:nvPr>
        </p:nvSpPr>
        <p:spPr>
          <a:xfrm>
            <a:off x="1097280" y="286603"/>
            <a:ext cx="10058400" cy="1450757"/>
          </a:xfrm>
        </p:spPr>
        <p:txBody>
          <a:bodyPr>
            <a:normAutofit/>
          </a:bodyPr>
          <a:lstStyle/>
          <a:p>
            <a:r>
              <a:rPr lang="en-US" dirty="0"/>
              <a:t>The distribution of channel types across different categories</a:t>
            </a:r>
            <a:endParaRPr lang="en-US" sz="3600" dirty="0"/>
          </a:p>
        </p:txBody>
      </p:sp>
    </p:spTree>
    <p:extLst>
      <p:ext uri="{BB962C8B-B14F-4D97-AF65-F5344CB8AC3E}">
        <p14:creationId xmlns:p14="http://schemas.microsoft.com/office/powerpoint/2010/main" val="1790781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AD76-1A32-8B8B-F336-2E401EDDC4A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181C1B7-1DC3-2812-9F9A-63729417633A}"/>
              </a:ext>
            </a:extLst>
          </p:cNvPr>
          <p:cNvSpPr>
            <a:spLocks noGrp="1"/>
          </p:cNvSpPr>
          <p:nvPr>
            <p:ph sz="half" idx="2"/>
          </p:nvPr>
        </p:nvSpPr>
        <p:spPr/>
        <p:txBody>
          <a:bodyPr/>
          <a:lstStyle/>
          <a:p>
            <a:pPr marL="457200" indent="-457200">
              <a:buClr>
                <a:schemeClr val="tx1"/>
              </a:buClr>
              <a:buFont typeface="+mj-lt"/>
              <a:buAutoNum type="arabicPeriod"/>
            </a:pPr>
            <a:r>
              <a:rPr lang="en-US" sz="1800" dirty="0">
                <a:solidFill>
                  <a:schemeClr val="tx1"/>
                </a:solidFill>
              </a:rPr>
              <a:t>The Pearson correlation coefficient is 0.83, which indicates a strong positive correlation between the number of subscribers and total video views.</a:t>
            </a:r>
          </a:p>
          <a:p>
            <a:pPr marL="457200" indent="-457200">
              <a:buClr>
                <a:schemeClr val="tx1"/>
              </a:buClr>
              <a:buFont typeface="+mj-lt"/>
              <a:buAutoNum type="arabicPeriod"/>
            </a:pPr>
            <a:r>
              <a:rPr lang="en-US" sz="1800" dirty="0">
                <a:solidFill>
                  <a:schemeClr val="tx1"/>
                </a:solidFill>
              </a:rPr>
              <a:t>As the number of subscribers increases, the total number of video views tends to increase as well.</a:t>
            </a:r>
          </a:p>
        </p:txBody>
      </p:sp>
      <p:sp>
        <p:nvSpPr>
          <p:cNvPr id="5" name="Title 1">
            <a:extLst>
              <a:ext uri="{FF2B5EF4-FFF2-40B4-BE49-F238E27FC236}">
                <a16:creationId xmlns:a16="http://schemas.microsoft.com/office/drawing/2014/main" id="{9892403C-24FF-DCB1-4AB8-48E4D6DB59F1}"/>
              </a:ext>
            </a:extLst>
          </p:cNvPr>
          <p:cNvSpPr>
            <a:spLocks noGrp="1"/>
          </p:cNvSpPr>
          <p:nvPr>
            <p:ph type="title"/>
          </p:nvPr>
        </p:nvSpPr>
        <p:spPr>
          <a:xfrm>
            <a:off x="1097280" y="552091"/>
            <a:ext cx="10058400" cy="1185269"/>
          </a:xfrm>
        </p:spPr>
        <p:txBody>
          <a:bodyPr>
            <a:normAutofit/>
          </a:bodyPr>
          <a:lstStyle/>
          <a:p>
            <a:r>
              <a:rPr lang="en-US" sz="3600" dirty="0"/>
              <a:t>Correlation between subscribers and total views for YouTube channels</a:t>
            </a:r>
            <a:endParaRPr lang="en-US" sz="2400" dirty="0"/>
          </a:p>
        </p:txBody>
      </p:sp>
      <p:pic>
        <p:nvPicPr>
          <p:cNvPr id="8" name="Content Placeholder 7">
            <a:extLst>
              <a:ext uri="{FF2B5EF4-FFF2-40B4-BE49-F238E27FC236}">
                <a16:creationId xmlns:a16="http://schemas.microsoft.com/office/drawing/2014/main" id="{21F1C05B-43D8-ADB9-8DA5-5B1298F3191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88579" y="2120900"/>
            <a:ext cx="5796070" cy="3477642"/>
          </a:xfrm>
        </p:spPr>
      </p:pic>
    </p:spTree>
    <p:extLst>
      <p:ext uri="{BB962C8B-B14F-4D97-AF65-F5344CB8AC3E}">
        <p14:creationId xmlns:p14="http://schemas.microsoft.com/office/powerpoint/2010/main" val="2542656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FB8F9-32A9-A505-60C0-73CCAF8C338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A89A5B4-5C4F-4FB0-75B4-9D0EE2AEE9F8}"/>
              </a:ext>
            </a:extLst>
          </p:cNvPr>
          <p:cNvSpPr>
            <a:spLocks noGrp="1"/>
          </p:cNvSpPr>
          <p:nvPr>
            <p:ph sz="half" idx="2"/>
          </p:nvPr>
        </p:nvSpPr>
        <p:spPr/>
        <p:txBody>
          <a:bodyPr>
            <a:normAutofit lnSpcReduction="10000"/>
          </a:bodyPr>
          <a:lstStyle/>
          <a:p>
            <a:pPr marL="457200" indent="-457200">
              <a:buClr>
                <a:schemeClr val="tx1"/>
              </a:buClr>
              <a:buFont typeface="+mj-lt"/>
              <a:buAutoNum type="arabicPeriod"/>
            </a:pPr>
            <a:r>
              <a:rPr lang="en-US" sz="1800" dirty="0">
                <a:solidFill>
                  <a:schemeClr val="tx1"/>
                </a:solidFill>
              </a:rPr>
              <a:t>The bar chart compares the lowest and highest monthly earnings across different YouTube content categories, the blue bars represent the lowest earnings, and the orange bars represent the highest possible earnings within each category.</a:t>
            </a:r>
          </a:p>
          <a:p>
            <a:pPr marL="457200" indent="-457200">
              <a:buClr>
                <a:schemeClr val="tx1"/>
              </a:buClr>
              <a:buFont typeface="+mj-lt"/>
              <a:buAutoNum type="arabicPeriod"/>
            </a:pPr>
            <a:r>
              <a:rPr lang="en-US" sz="1800" dirty="0">
                <a:solidFill>
                  <a:schemeClr val="tx1"/>
                </a:solidFill>
              </a:rPr>
              <a:t>Shows dominate with the highest maximum monthly earnings, exceeding $2 million/month.</a:t>
            </a:r>
          </a:p>
          <a:p>
            <a:pPr marL="457200" indent="-457200">
              <a:buClr>
                <a:schemeClr val="tx1"/>
              </a:buClr>
              <a:buFont typeface="+mj-lt"/>
              <a:buAutoNum type="arabicPeriod"/>
            </a:pPr>
            <a:r>
              <a:rPr lang="en-US" sz="1800" dirty="0">
                <a:solidFill>
                  <a:schemeClr val="tx1"/>
                </a:solidFill>
              </a:rPr>
              <a:t>Travel &amp; Events, </a:t>
            </a:r>
            <a:r>
              <a:rPr lang="en-US" sz="1800" dirty="0" err="1">
                <a:solidFill>
                  <a:schemeClr val="tx1"/>
                </a:solidFill>
              </a:rPr>
              <a:t>HowTo</a:t>
            </a:r>
            <a:r>
              <a:rPr lang="en-US" sz="1800" dirty="0">
                <a:solidFill>
                  <a:schemeClr val="tx1"/>
                </a:solidFill>
              </a:rPr>
              <a:t> &amp; Style, and Science &amp; Technology fall at the lower end of both minimum and maximum earnings.</a:t>
            </a:r>
          </a:p>
        </p:txBody>
      </p:sp>
      <p:sp>
        <p:nvSpPr>
          <p:cNvPr id="5" name="Title 1">
            <a:extLst>
              <a:ext uri="{FF2B5EF4-FFF2-40B4-BE49-F238E27FC236}">
                <a16:creationId xmlns:a16="http://schemas.microsoft.com/office/drawing/2014/main" id="{3EDF21F2-7C96-F324-FE6C-9523D5196528}"/>
              </a:ext>
            </a:extLst>
          </p:cNvPr>
          <p:cNvSpPr>
            <a:spLocks noGrp="1"/>
          </p:cNvSpPr>
          <p:nvPr>
            <p:ph type="title"/>
          </p:nvPr>
        </p:nvSpPr>
        <p:spPr>
          <a:xfrm>
            <a:off x="1097280" y="552091"/>
            <a:ext cx="10058400" cy="1185269"/>
          </a:xfrm>
        </p:spPr>
        <p:txBody>
          <a:bodyPr>
            <a:normAutofit fontScale="90000"/>
          </a:bodyPr>
          <a:lstStyle/>
          <a:p>
            <a:r>
              <a:rPr lang="en-US" dirty="0"/>
              <a:t>Monthly earnings throughout different categories</a:t>
            </a:r>
            <a:endParaRPr lang="en-US" sz="2400" dirty="0"/>
          </a:p>
        </p:txBody>
      </p:sp>
      <p:pic>
        <p:nvPicPr>
          <p:cNvPr id="7" name="Content Placeholder 6">
            <a:extLst>
              <a:ext uri="{FF2B5EF4-FFF2-40B4-BE49-F238E27FC236}">
                <a16:creationId xmlns:a16="http://schemas.microsoft.com/office/drawing/2014/main" id="{F66274BD-58B3-1B9D-8702-80304AF9615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49373" y="2120899"/>
            <a:ext cx="6055744" cy="3425885"/>
          </a:xfrm>
        </p:spPr>
      </p:pic>
    </p:spTree>
    <p:extLst>
      <p:ext uri="{BB962C8B-B14F-4D97-AF65-F5344CB8AC3E}">
        <p14:creationId xmlns:p14="http://schemas.microsoft.com/office/powerpoint/2010/main" val="4389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A4F8-5A90-81FD-C5EB-470670577C6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7C3753-BB04-DE63-4478-098DE9A30CEF}"/>
              </a:ext>
            </a:extLst>
          </p:cNvPr>
          <p:cNvSpPr>
            <a:spLocks noGrp="1"/>
          </p:cNvSpPr>
          <p:nvPr>
            <p:ph sz="half" idx="2"/>
          </p:nvPr>
        </p:nvSpPr>
        <p:spPr/>
        <p:txBody>
          <a:bodyPr>
            <a:normAutofit/>
          </a:bodyPr>
          <a:lstStyle/>
          <a:p>
            <a:pPr marL="457200" indent="-457200">
              <a:buClr>
                <a:schemeClr val="tx1"/>
              </a:buClr>
              <a:buFont typeface="+mj-lt"/>
              <a:buAutoNum type="arabicPeriod"/>
            </a:pPr>
            <a:r>
              <a:rPr lang="en-US" sz="1800" dirty="0">
                <a:solidFill>
                  <a:schemeClr val="tx1"/>
                </a:solidFill>
              </a:rPr>
              <a:t>Film and Animation has the highest no. of subscribers gained in the last 30 days indicating a fairly large audience with potential to increase.</a:t>
            </a:r>
          </a:p>
          <a:p>
            <a:pPr marL="457200" indent="-457200">
              <a:buClr>
                <a:schemeClr val="tx1"/>
              </a:buClr>
              <a:buFont typeface="+mj-lt"/>
              <a:buAutoNum type="arabicPeriod"/>
            </a:pPr>
            <a:r>
              <a:rPr lang="en-US" sz="1800" dirty="0">
                <a:solidFill>
                  <a:schemeClr val="tx1"/>
                </a:solidFill>
              </a:rPr>
              <a:t>Music has the lowest no. of subscribers gained over the last 30 days.</a:t>
            </a:r>
          </a:p>
          <a:p>
            <a:pPr marL="457200" indent="-457200">
              <a:buClr>
                <a:schemeClr val="tx1"/>
              </a:buClr>
              <a:buFont typeface="+mj-lt"/>
              <a:buAutoNum type="arabicPeriod"/>
            </a:pPr>
            <a:endParaRPr lang="en-US" sz="1800" dirty="0">
              <a:solidFill>
                <a:schemeClr val="tx1"/>
              </a:solidFill>
            </a:endParaRPr>
          </a:p>
        </p:txBody>
      </p:sp>
      <p:sp>
        <p:nvSpPr>
          <p:cNvPr id="5" name="Title 1">
            <a:extLst>
              <a:ext uri="{FF2B5EF4-FFF2-40B4-BE49-F238E27FC236}">
                <a16:creationId xmlns:a16="http://schemas.microsoft.com/office/drawing/2014/main" id="{EE3945E0-494D-CD74-BE01-72C2B145A9C3}"/>
              </a:ext>
            </a:extLst>
          </p:cNvPr>
          <p:cNvSpPr>
            <a:spLocks noGrp="1"/>
          </p:cNvSpPr>
          <p:nvPr>
            <p:ph type="title"/>
          </p:nvPr>
        </p:nvSpPr>
        <p:spPr>
          <a:xfrm>
            <a:off x="1097280" y="552091"/>
            <a:ext cx="10058400" cy="1185269"/>
          </a:xfrm>
        </p:spPr>
        <p:txBody>
          <a:bodyPr>
            <a:noAutofit/>
          </a:bodyPr>
          <a:lstStyle/>
          <a:p>
            <a:pPr lvl="0"/>
            <a:r>
              <a:rPr lang="en-US" sz="3600" dirty="0"/>
              <a:t>Overall trend in subscribers gained over the last 30 days across all channels</a:t>
            </a:r>
          </a:p>
        </p:txBody>
      </p:sp>
      <p:pic>
        <p:nvPicPr>
          <p:cNvPr id="8" name="Content Placeholder 7">
            <a:extLst>
              <a:ext uri="{FF2B5EF4-FFF2-40B4-BE49-F238E27FC236}">
                <a16:creationId xmlns:a16="http://schemas.microsoft.com/office/drawing/2014/main" id="{A0D492EC-E155-E0CB-0ACE-9E2ADA70F4E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35637" y="2144529"/>
            <a:ext cx="5952224" cy="2976112"/>
          </a:xfrm>
        </p:spPr>
      </p:pic>
    </p:spTree>
    <p:extLst>
      <p:ext uri="{BB962C8B-B14F-4D97-AF65-F5344CB8AC3E}">
        <p14:creationId xmlns:p14="http://schemas.microsoft.com/office/powerpoint/2010/main" val="307704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03985-E8C9-6635-7AF3-71334691FC51}"/>
              </a:ext>
            </a:extLst>
          </p:cNvPr>
          <p:cNvSpPr>
            <a:spLocks noGrp="1"/>
          </p:cNvSpPr>
          <p:nvPr>
            <p:ph type="title"/>
          </p:nvPr>
        </p:nvSpPr>
        <p:spPr>
          <a:xfrm>
            <a:off x="1066800" y="241540"/>
            <a:ext cx="10058400" cy="1150764"/>
          </a:xfrm>
        </p:spPr>
        <p:txBody>
          <a:bodyPr>
            <a:normAutofit/>
          </a:bodyPr>
          <a:lstStyle/>
          <a:p>
            <a:r>
              <a:rPr lang="en-US" sz="3600" dirty="0"/>
              <a:t>Outliers in terms of yearly earnings from YouTube channels</a:t>
            </a:r>
          </a:p>
        </p:txBody>
      </p:sp>
      <p:graphicFrame>
        <p:nvGraphicFramePr>
          <p:cNvPr id="4" name="Content Placeholder 3">
            <a:extLst>
              <a:ext uri="{FF2B5EF4-FFF2-40B4-BE49-F238E27FC236}">
                <a16:creationId xmlns:a16="http://schemas.microsoft.com/office/drawing/2014/main" id="{FC3AAD87-4426-E4E5-6F66-D7A36588C648}"/>
              </a:ext>
            </a:extLst>
          </p:cNvPr>
          <p:cNvGraphicFramePr>
            <a:graphicFrameLocks noGrp="1"/>
          </p:cNvGraphicFramePr>
          <p:nvPr>
            <p:ph idx="1"/>
            <p:extLst>
              <p:ext uri="{D42A27DB-BD31-4B8C-83A1-F6EECF244321}">
                <p14:modId xmlns:p14="http://schemas.microsoft.com/office/powerpoint/2010/main" val="3317234735"/>
              </p:ext>
            </p:extLst>
          </p:nvPr>
        </p:nvGraphicFramePr>
        <p:xfrm>
          <a:off x="1199072" y="1515598"/>
          <a:ext cx="9956608" cy="3835792"/>
        </p:xfrm>
        <a:graphic>
          <a:graphicData uri="http://schemas.openxmlformats.org/drawingml/2006/table">
            <a:tbl>
              <a:tblPr/>
              <a:tblGrid>
                <a:gridCol w="4978304">
                  <a:extLst>
                    <a:ext uri="{9D8B030D-6E8A-4147-A177-3AD203B41FA5}">
                      <a16:colId xmlns:a16="http://schemas.microsoft.com/office/drawing/2014/main" val="2922920687"/>
                    </a:ext>
                  </a:extLst>
                </a:gridCol>
                <a:gridCol w="4978304">
                  <a:extLst>
                    <a:ext uri="{9D8B030D-6E8A-4147-A177-3AD203B41FA5}">
                      <a16:colId xmlns:a16="http://schemas.microsoft.com/office/drawing/2014/main" val="30754480"/>
                    </a:ext>
                  </a:extLst>
                </a:gridCol>
              </a:tblGrid>
              <a:tr h="341890">
                <a:tc>
                  <a:txBody>
                    <a:bodyPr/>
                    <a:lstStyle/>
                    <a:p>
                      <a:pPr algn="ctr"/>
                      <a:r>
                        <a:rPr lang="en-US" sz="2000" b="1" dirty="0">
                          <a:solidFill>
                            <a:schemeClr val="tx1"/>
                          </a:solidFill>
                        </a:rPr>
                        <a:t>YouTuber</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solidFill>
                            <a:schemeClr val="tx1"/>
                          </a:solidFill>
                        </a:rPr>
                        <a:t>Highest Yearly Earnings (USD)</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242347"/>
                  </a:ext>
                </a:extLst>
              </a:tr>
              <a:tr h="341890">
                <a:tc>
                  <a:txBody>
                    <a:bodyPr/>
                    <a:lstStyle/>
                    <a:p>
                      <a:pPr algn="ctr"/>
                      <a:r>
                        <a:rPr lang="en-US" sz="1700" dirty="0"/>
                        <a:t>KIMPRO</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$163,400,000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598643"/>
                  </a:ext>
                </a:extLst>
              </a:tr>
              <a:tr h="341890">
                <a:tc>
                  <a:txBody>
                    <a:bodyPr/>
                    <a:lstStyle/>
                    <a:p>
                      <a:pPr algn="ctr"/>
                      <a:r>
                        <a:rPr lang="en-US" sz="1700"/>
                        <a:t>DaFuq!?Boom!</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$110,600,000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4765897"/>
                  </a:ext>
                </a:extLst>
              </a:tr>
              <a:tr h="341890">
                <a:tc>
                  <a:txBody>
                    <a:bodyPr/>
                    <a:lstStyle/>
                    <a:p>
                      <a:pPr algn="ctr"/>
                      <a:r>
                        <a:rPr lang="en-US" sz="1700"/>
                        <a:t>T-Series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$108,400,000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5786106"/>
                  </a:ext>
                </a:extLst>
              </a:tr>
              <a:tr h="341890">
                <a:tc>
                  <a:txBody>
                    <a:bodyPr/>
                    <a:lstStyle/>
                    <a:p>
                      <a:pPr algn="ctr"/>
                      <a:r>
                        <a:rPr lang="en-US" sz="1700"/>
                        <a:t>KL BRO Biju Rithvik</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$97,600,000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4974426"/>
                  </a:ext>
                </a:extLst>
              </a:tr>
              <a:tr h="341890">
                <a:tc>
                  <a:txBody>
                    <a:bodyPr/>
                    <a:lstStyle/>
                    <a:p>
                      <a:pPr algn="ctr"/>
                      <a:r>
                        <a:rPr lang="en-US" sz="1700"/>
                        <a:t>Cocomelon - Nursery Rhymes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$94,800,000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213543"/>
                  </a:ext>
                </a:extLst>
              </a:tr>
              <a:tr h="341890">
                <a:tc>
                  <a:txBody>
                    <a:bodyPr/>
                    <a:lstStyle/>
                    <a:p>
                      <a:pPr algn="ctr"/>
                      <a:r>
                        <a:rPr lang="en-US" sz="1700"/>
                        <a:t>The Weeknd</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$17,900,000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4567356"/>
                  </a:ext>
                </a:extLst>
              </a:tr>
              <a:tr h="341890">
                <a:tc>
                  <a:txBody>
                    <a:bodyPr/>
                    <a:lstStyle/>
                    <a:p>
                      <a:pPr algn="ctr"/>
                      <a:r>
                        <a:rPr lang="en-US" sz="1700"/>
                        <a:t>News 24</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$17,800,000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8448943"/>
                  </a:ext>
                </a:extLst>
              </a:tr>
              <a:tr h="341890">
                <a:tc>
                  <a:txBody>
                    <a:bodyPr/>
                    <a:lstStyle/>
                    <a:p>
                      <a:pPr algn="ctr"/>
                      <a:r>
                        <a:rPr lang="en-US" sz="1700"/>
                        <a:t>SEVENGERS</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$17,700,000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305603"/>
                  </a:ext>
                </a:extLst>
              </a:tr>
              <a:tr h="341890">
                <a:tc>
                  <a:txBody>
                    <a:bodyPr/>
                    <a:lstStyle/>
                    <a:p>
                      <a:pPr algn="ctr"/>
                      <a:r>
                        <a:rPr lang="en-US" sz="1700"/>
                        <a:t>Susy Mouriz</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a:t>$17,700,000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3307772"/>
                  </a:ext>
                </a:extLst>
              </a:tr>
              <a:tr h="341890">
                <a:tc>
                  <a:txBody>
                    <a:bodyPr/>
                    <a:lstStyle/>
                    <a:p>
                      <a:pPr algn="ctr"/>
                      <a:r>
                        <a:rPr lang="en-US" sz="1700"/>
                        <a:t>Tilak</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t>$17,600,000</a:t>
                      </a:r>
                    </a:p>
                  </a:txBody>
                  <a:tcPr marL="85472" marR="85472" marT="42736" marB="42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3889743"/>
                  </a:ext>
                </a:extLst>
              </a:tr>
            </a:tbl>
          </a:graphicData>
        </a:graphic>
      </p:graphicFrame>
      <p:sp>
        <p:nvSpPr>
          <p:cNvPr id="5" name="Title 1">
            <a:extLst>
              <a:ext uri="{FF2B5EF4-FFF2-40B4-BE49-F238E27FC236}">
                <a16:creationId xmlns:a16="http://schemas.microsoft.com/office/drawing/2014/main" id="{8463132F-FB5B-646E-D82B-BE6DF4A317ED}"/>
              </a:ext>
            </a:extLst>
          </p:cNvPr>
          <p:cNvSpPr txBox="1">
            <a:spLocks/>
          </p:cNvSpPr>
          <p:nvPr/>
        </p:nvSpPr>
        <p:spPr>
          <a:xfrm>
            <a:off x="1148176" y="5474684"/>
            <a:ext cx="10058400" cy="81176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sz="2000" dirty="0">
                <a:solidFill>
                  <a:schemeClr val="tx1"/>
                </a:solidFill>
                <a:latin typeface="+mn-lt"/>
              </a:rPr>
              <a:t>These are the top 10 channels with outliers in terms of yearly earnings compared to average yearly earnings.</a:t>
            </a:r>
          </a:p>
        </p:txBody>
      </p:sp>
    </p:spTree>
    <p:extLst>
      <p:ext uri="{BB962C8B-B14F-4D97-AF65-F5344CB8AC3E}">
        <p14:creationId xmlns:p14="http://schemas.microsoft.com/office/powerpoint/2010/main" val="180688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44A34-06E2-63A9-56DC-8A49D24B623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99311C-6910-6A27-D7E6-F0583DD74C5F}"/>
              </a:ext>
            </a:extLst>
          </p:cNvPr>
          <p:cNvSpPr>
            <a:spLocks noGrp="1"/>
          </p:cNvSpPr>
          <p:nvPr>
            <p:ph sz="half" idx="2"/>
          </p:nvPr>
        </p:nvSpPr>
        <p:spPr/>
        <p:txBody>
          <a:bodyPr>
            <a:normAutofit fontScale="92500" lnSpcReduction="10000"/>
          </a:bodyPr>
          <a:lstStyle/>
          <a:p>
            <a:pPr marL="457200" indent="-457200">
              <a:buClr>
                <a:schemeClr val="tx1"/>
              </a:buClr>
              <a:buFont typeface="+mj-lt"/>
              <a:buAutoNum type="arabicPeriod"/>
            </a:pPr>
            <a:r>
              <a:rPr lang="en-US" sz="1800" dirty="0">
                <a:solidFill>
                  <a:schemeClr val="tx1"/>
                </a:solidFill>
              </a:rPr>
              <a:t>A sharp rise in channel creations begins around 2005-06, aligning with YouTube’s launch and rapid early growth.</a:t>
            </a:r>
          </a:p>
          <a:p>
            <a:pPr marL="457200" indent="-457200">
              <a:buClr>
                <a:schemeClr val="tx1"/>
              </a:buClr>
              <a:buFont typeface="+mj-lt"/>
              <a:buAutoNum type="arabicPeriod"/>
            </a:pPr>
            <a:r>
              <a:rPr lang="en-US" sz="1800" dirty="0">
                <a:solidFill>
                  <a:schemeClr val="tx1"/>
                </a:solidFill>
              </a:rPr>
              <a:t>The graph peaks in 2014, with over 100 channels created</a:t>
            </a:r>
          </a:p>
          <a:p>
            <a:pPr marL="457200" indent="-457200">
              <a:buClr>
                <a:schemeClr val="tx1"/>
              </a:buClr>
              <a:buFont typeface="+mj-lt"/>
              <a:buAutoNum type="arabicPeriod"/>
            </a:pPr>
            <a:r>
              <a:rPr lang="en-US" sz="1800" dirty="0">
                <a:solidFill>
                  <a:schemeClr val="tx1"/>
                </a:solidFill>
              </a:rPr>
              <a:t>There’s a steady decline in new channel creation from 2017 onward, especially after 2019.</a:t>
            </a:r>
          </a:p>
          <a:p>
            <a:pPr marL="457200" indent="-457200">
              <a:buClr>
                <a:schemeClr val="tx1"/>
              </a:buClr>
              <a:buFont typeface="+mj-lt"/>
              <a:buAutoNum type="arabicPeriod"/>
            </a:pPr>
            <a:r>
              <a:rPr lang="en-US" sz="1800" dirty="0">
                <a:solidFill>
                  <a:schemeClr val="tx1"/>
                </a:solidFill>
              </a:rPr>
              <a:t>The number of new channels drops significantly in the last few years May reflect data incompleteness or real decline in major channel launches</a:t>
            </a:r>
          </a:p>
        </p:txBody>
      </p:sp>
      <p:sp>
        <p:nvSpPr>
          <p:cNvPr id="7" name="Title 1">
            <a:extLst>
              <a:ext uri="{FF2B5EF4-FFF2-40B4-BE49-F238E27FC236}">
                <a16:creationId xmlns:a16="http://schemas.microsoft.com/office/drawing/2014/main" id="{EBC19A21-C19D-3E01-C4DA-858A36D8842F}"/>
              </a:ext>
            </a:extLst>
          </p:cNvPr>
          <p:cNvSpPr>
            <a:spLocks noGrp="1"/>
          </p:cNvSpPr>
          <p:nvPr>
            <p:ph type="title"/>
          </p:nvPr>
        </p:nvSpPr>
        <p:spPr>
          <a:xfrm>
            <a:off x="1097280" y="286603"/>
            <a:ext cx="10058400" cy="1450757"/>
          </a:xfrm>
        </p:spPr>
        <p:txBody>
          <a:bodyPr>
            <a:normAutofit/>
          </a:bodyPr>
          <a:lstStyle/>
          <a:p>
            <a:r>
              <a:rPr lang="en-US" sz="3600" dirty="0"/>
              <a:t>Distribution of channel creation dates and trends over time</a:t>
            </a:r>
          </a:p>
        </p:txBody>
      </p:sp>
      <p:pic>
        <p:nvPicPr>
          <p:cNvPr id="16" name="Content Placeholder 15">
            <a:extLst>
              <a:ext uri="{FF2B5EF4-FFF2-40B4-BE49-F238E27FC236}">
                <a16:creationId xmlns:a16="http://schemas.microsoft.com/office/drawing/2014/main" id="{5784B679-FCE4-A834-B26C-28AEC25811F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7665" y="2528506"/>
            <a:ext cx="6098279" cy="2932981"/>
          </a:xfrm>
        </p:spPr>
      </p:pic>
    </p:spTree>
    <p:extLst>
      <p:ext uri="{BB962C8B-B14F-4D97-AF65-F5344CB8AC3E}">
        <p14:creationId xmlns:p14="http://schemas.microsoft.com/office/powerpoint/2010/main" val="260049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DBA45-5E2C-031D-5A23-9C4139AD81A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A22C68-4A6C-3CD0-74C7-D3350C48A8E7}"/>
              </a:ext>
            </a:extLst>
          </p:cNvPr>
          <p:cNvSpPr>
            <a:spLocks noGrp="1"/>
          </p:cNvSpPr>
          <p:nvPr>
            <p:ph sz="half" idx="2"/>
          </p:nvPr>
        </p:nvSpPr>
        <p:spPr/>
        <p:txBody>
          <a:bodyPr>
            <a:normAutofit/>
          </a:bodyPr>
          <a:lstStyle/>
          <a:p>
            <a:pPr marL="457200" indent="-457200">
              <a:buClr>
                <a:schemeClr val="tx1"/>
              </a:buClr>
              <a:buFont typeface="+mj-lt"/>
              <a:buAutoNum type="arabicPeriod"/>
            </a:pPr>
            <a:r>
              <a:rPr lang="en-US" sz="1800" dirty="0">
                <a:solidFill>
                  <a:schemeClr val="tx1"/>
                </a:solidFill>
              </a:rPr>
              <a:t>The calculated correlation coefficient is only 0.11, which indicates a very weak positive relationship or a negligible relationship.</a:t>
            </a:r>
          </a:p>
          <a:p>
            <a:pPr marL="457200" indent="-457200">
              <a:buClr>
                <a:schemeClr val="tx1"/>
              </a:buClr>
              <a:buFont typeface="+mj-lt"/>
              <a:buAutoNum type="arabicPeriod"/>
            </a:pPr>
            <a:r>
              <a:rPr lang="en-US" sz="1800" dirty="0">
                <a:solidFill>
                  <a:schemeClr val="tx1"/>
                </a:solidFill>
              </a:rPr>
              <a:t>In practical terms, this means higher education enrollment does not strongly predict how many YouTube channels a country has.</a:t>
            </a:r>
          </a:p>
          <a:p>
            <a:pPr marL="0" indent="0">
              <a:buClr>
                <a:schemeClr val="tx1"/>
              </a:buClr>
              <a:buNone/>
            </a:pPr>
            <a:endParaRPr lang="en-US" sz="1800" b="1" dirty="0"/>
          </a:p>
          <a:p>
            <a:pPr marL="457200" indent="-457200">
              <a:buClr>
                <a:schemeClr val="tx1"/>
              </a:buClr>
              <a:buFont typeface="+mj-lt"/>
              <a:buAutoNum type="arabicPeriod"/>
            </a:pPr>
            <a:endParaRPr lang="en-US" sz="1800" dirty="0">
              <a:solidFill>
                <a:schemeClr val="tx1"/>
              </a:solidFill>
            </a:endParaRPr>
          </a:p>
        </p:txBody>
      </p:sp>
      <p:sp>
        <p:nvSpPr>
          <p:cNvPr id="7" name="Title 1">
            <a:extLst>
              <a:ext uri="{FF2B5EF4-FFF2-40B4-BE49-F238E27FC236}">
                <a16:creationId xmlns:a16="http://schemas.microsoft.com/office/drawing/2014/main" id="{84104453-7BD0-8C43-08D6-A88F0E455BA0}"/>
              </a:ext>
            </a:extLst>
          </p:cNvPr>
          <p:cNvSpPr>
            <a:spLocks noGrp="1"/>
          </p:cNvSpPr>
          <p:nvPr>
            <p:ph type="title"/>
          </p:nvPr>
        </p:nvSpPr>
        <p:spPr>
          <a:xfrm>
            <a:off x="1097280" y="286603"/>
            <a:ext cx="10058400" cy="1450757"/>
          </a:xfrm>
        </p:spPr>
        <p:txBody>
          <a:bodyPr>
            <a:noAutofit/>
          </a:bodyPr>
          <a:lstStyle/>
          <a:p>
            <a:r>
              <a:rPr lang="en-US" sz="3600" dirty="0"/>
              <a:t>Relationship between gross tertiary education enrollment and the number of YouTube channels</a:t>
            </a:r>
            <a:endParaRPr lang="en-US" sz="2400" dirty="0"/>
          </a:p>
        </p:txBody>
      </p:sp>
      <p:pic>
        <p:nvPicPr>
          <p:cNvPr id="6" name="Content Placeholder 5">
            <a:extLst>
              <a:ext uri="{FF2B5EF4-FFF2-40B4-BE49-F238E27FC236}">
                <a16:creationId xmlns:a16="http://schemas.microsoft.com/office/drawing/2014/main" id="{58D9EF10-EA61-68A1-1F6C-B993E64923F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46338" y="2120900"/>
            <a:ext cx="5549662" cy="3329797"/>
          </a:xfrm>
        </p:spPr>
      </p:pic>
    </p:spTree>
    <p:extLst>
      <p:ext uri="{BB962C8B-B14F-4D97-AF65-F5344CB8AC3E}">
        <p14:creationId xmlns:p14="http://schemas.microsoft.com/office/powerpoint/2010/main" val="1274107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99FAE-C734-9082-6E85-AE387824A8A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5264C0A-499C-0025-C148-8F1F21B89E7B}"/>
              </a:ext>
            </a:extLst>
          </p:cNvPr>
          <p:cNvSpPr>
            <a:spLocks noGrp="1"/>
          </p:cNvSpPr>
          <p:nvPr>
            <p:ph sz="half" idx="2"/>
          </p:nvPr>
        </p:nvSpPr>
        <p:spPr/>
        <p:txBody>
          <a:bodyPr>
            <a:normAutofit/>
          </a:bodyPr>
          <a:lstStyle/>
          <a:p>
            <a:pPr marL="457200" indent="-457200">
              <a:buClr>
                <a:schemeClr val="tx1"/>
              </a:buClr>
              <a:buFont typeface="+mj-lt"/>
              <a:buAutoNum type="arabicPeriod"/>
            </a:pPr>
            <a:r>
              <a:rPr lang="en-US" sz="1800" dirty="0">
                <a:solidFill>
                  <a:schemeClr val="tx1"/>
                </a:solidFill>
              </a:rPr>
              <a:t>There seems to be a mild association between higher unemployment and higher YouTube activity (in countries like the US, Spain, Brazil), it's not consistent across all top channel-producing countries.</a:t>
            </a:r>
          </a:p>
          <a:p>
            <a:pPr marL="457200" indent="-457200">
              <a:buClr>
                <a:schemeClr val="tx1"/>
              </a:buClr>
              <a:buFont typeface="+mj-lt"/>
              <a:buAutoNum type="arabicPeriod"/>
            </a:pPr>
            <a:r>
              <a:rPr lang="en-US" sz="1800" dirty="0">
                <a:solidFill>
                  <a:schemeClr val="tx1"/>
                </a:solidFill>
              </a:rPr>
              <a:t>This implies that YouTube is also an aspirational or entrepreneurial path in economically stable countries.</a:t>
            </a:r>
          </a:p>
          <a:p>
            <a:pPr marL="457200" indent="-457200">
              <a:buClr>
                <a:schemeClr val="tx1"/>
              </a:buClr>
              <a:buFont typeface="+mj-lt"/>
              <a:buAutoNum type="arabicPeriod"/>
            </a:pPr>
            <a:endParaRPr lang="en-US" sz="1800" dirty="0">
              <a:solidFill>
                <a:schemeClr val="tx1"/>
              </a:solidFill>
            </a:endParaRPr>
          </a:p>
        </p:txBody>
      </p:sp>
      <p:sp>
        <p:nvSpPr>
          <p:cNvPr id="7" name="Title 1">
            <a:extLst>
              <a:ext uri="{FF2B5EF4-FFF2-40B4-BE49-F238E27FC236}">
                <a16:creationId xmlns:a16="http://schemas.microsoft.com/office/drawing/2014/main" id="{42B3D603-C944-2DDC-A323-ADE880D16B42}"/>
              </a:ext>
            </a:extLst>
          </p:cNvPr>
          <p:cNvSpPr>
            <a:spLocks noGrp="1"/>
          </p:cNvSpPr>
          <p:nvPr>
            <p:ph type="title"/>
          </p:nvPr>
        </p:nvSpPr>
        <p:spPr>
          <a:xfrm>
            <a:off x="1097280" y="286603"/>
            <a:ext cx="10058400" cy="1450757"/>
          </a:xfrm>
        </p:spPr>
        <p:txBody>
          <a:bodyPr>
            <a:noAutofit/>
          </a:bodyPr>
          <a:lstStyle/>
          <a:p>
            <a:r>
              <a:rPr lang="en-US" sz="3600" dirty="0"/>
              <a:t>Unemployment rate among top 10 countries with the highest number of channels</a:t>
            </a:r>
            <a:endParaRPr lang="en-US" sz="1600" dirty="0"/>
          </a:p>
        </p:txBody>
      </p:sp>
      <p:pic>
        <p:nvPicPr>
          <p:cNvPr id="10" name="Content Placeholder 9">
            <a:extLst>
              <a:ext uri="{FF2B5EF4-FFF2-40B4-BE49-F238E27FC236}">
                <a16:creationId xmlns:a16="http://schemas.microsoft.com/office/drawing/2014/main" id="{39D9435C-4B88-E9A1-61F4-251A19E6DFA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60201" y="2498314"/>
            <a:ext cx="5986732" cy="2993366"/>
          </a:xfrm>
        </p:spPr>
      </p:pic>
    </p:spTree>
    <p:extLst>
      <p:ext uri="{BB962C8B-B14F-4D97-AF65-F5344CB8AC3E}">
        <p14:creationId xmlns:p14="http://schemas.microsoft.com/office/powerpoint/2010/main" val="166435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3BDD-6C03-BEEC-DAF0-5806A5FFBF2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E7E26F6-0CD7-0B31-18C8-9DF1CF473A94}"/>
              </a:ext>
            </a:extLst>
          </p:cNvPr>
          <p:cNvSpPr>
            <a:spLocks noGrp="1"/>
          </p:cNvSpPr>
          <p:nvPr>
            <p:ph sz="half" idx="2"/>
          </p:nvPr>
        </p:nvSpPr>
        <p:spPr/>
        <p:txBody>
          <a:bodyPr>
            <a:normAutofit/>
          </a:bodyPr>
          <a:lstStyle/>
          <a:p>
            <a:pPr marL="457200" indent="-457200">
              <a:buClr>
                <a:schemeClr val="tx1"/>
              </a:buClr>
              <a:buFont typeface="+mj-lt"/>
              <a:buAutoNum type="arabicPeriod"/>
            </a:pPr>
            <a:r>
              <a:rPr lang="en-US" sz="1800" dirty="0">
                <a:solidFill>
                  <a:schemeClr val="tx1"/>
                </a:solidFill>
              </a:rPr>
              <a:t>China and India dominate due to their massive populations, not necessarily because of high urbanization rates.</a:t>
            </a:r>
          </a:p>
          <a:p>
            <a:pPr marL="457200" indent="-457200">
              <a:buClr>
                <a:schemeClr val="tx1"/>
              </a:buClr>
              <a:buFont typeface="+mj-lt"/>
              <a:buAutoNum type="arabicPeriod"/>
            </a:pPr>
            <a:r>
              <a:rPr lang="en-US" sz="1800" dirty="0">
                <a:solidFill>
                  <a:schemeClr val="tx1"/>
                </a:solidFill>
              </a:rPr>
              <a:t>High urbanization does not guarantee more YouTube channels since countries like Singapore, Switzerland, and UAE are highly urban but have fewer creators.</a:t>
            </a:r>
          </a:p>
          <a:p>
            <a:pPr marL="457200" indent="-457200">
              <a:buClr>
                <a:schemeClr val="tx1"/>
              </a:buClr>
              <a:buFont typeface="+mj-lt"/>
              <a:buAutoNum type="arabicPeriod"/>
            </a:pPr>
            <a:r>
              <a:rPr lang="en-US" sz="1800" dirty="0">
                <a:solidFill>
                  <a:schemeClr val="tx1"/>
                </a:solidFill>
              </a:rPr>
              <a:t>Urbanization alone isn't a strong predictor of YouTube activity instead population size, internet access, and creator economy play larger roles.</a:t>
            </a:r>
          </a:p>
        </p:txBody>
      </p:sp>
      <p:sp>
        <p:nvSpPr>
          <p:cNvPr id="7" name="Title 1">
            <a:extLst>
              <a:ext uri="{FF2B5EF4-FFF2-40B4-BE49-F238E27FC236}">
                <a16:creationId xmlns:a16="http://schemas.microsoft.com/office/drawing/2014/main" id="{D8ACDEA4-B9CF-4894-1A4A-75209680E684}"/>
              </a:ext>
            </a:extLst>
          </p:cNvPr>
          <p:cNvSpPr>
            <a:spLocks noGrp="1"/>
          </p:cNvSpPr>
          <p:nvPr>
            <p:ph type="title"/>
          </p:nvPr>
        </p:nvSpPr>
        <p:spPr>
          <a:xfrm>
            <a:off x="1097280" y="286603"/>
            <a:ext cx="10058400" cy="1450757"/>
          </a:xfrm>
        </p:spPr>
        <p:txBody>
          <a:bodyPr>
            <a:noAutofit/>
          </a:bodyPr>
          <a:lstStyle/>
          <a:p>
            <a:r>
              <a:rPr lang="en-US" sz="3600" dirty="0"/>
              <a:t>Average urban population percentage in countries with YouTube channels</a:t>
            </a:r>
            <a:endParaRPr lang="en-US" sz="1100" dirty="0"/>
          </a:p>
        </p:txBody>
      </p:sp>
      <p:pic>
        <p:nvPicPr>
          <p:cNvPr id="6" name="Content Placeholder 5">
            <a:extLst>
              <a:ext uri="{FF2B5EF4-FFF2-40B4-BE49-F238E27FC236}">
                <a16:creationId xmlns:a16="http://schemas.microsoft.com/office/drawing/2014/main" id="{7A5F5F2D-EAEA-2A58-CACD-7ECA5E36F0A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t="2439"/>
          <a:stretch>
            <a:fillRect/>
          </a:stretch>
        </p:blipFill>
        <p:spPr>
          <a:xfrm>
            <a:off x="70124" y="2120898"/>
            <a:ext cx="6261613" cy="3748195"/>
          </a:xfrm>
        </p:spPr>
      </p:pic>
    </p:spTree>
    <p:extLst>
      <p:ext uri="{BB962C8B-B14F-4D97-AF65-F5344CB8AC3E}">
        <p14:creationId xmlns:p14="http://schemas.microsoft.com/office/powerpoint/2010/main" val="3396562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641BB-E535-682D-3640-77A1DDD5C81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4ED3DF3-B8DB-0F78-9BB0-C75C9C5BE6AE}"/>
              </a:ext>
            </a:extLst>
          </p:cNvPr>
          <p:cNvSpPr>
            <a:spLocks noGrp="1"/>
          </p:cNvSpPr>
          <p:nvPr>
            <p:ph sz="half" idx="2"/>
          </p:nvPr>
        </p:nvSpPr>
        <p:spPr>
          <a:xfrm>
            <a:off x="6515944" y="2120900"/>
            <a:ext cx="4639736" cy="4064240"/>
          </a:xfrm>
        </p:spPr>
        <p:txBody>
          <a:bodyPr>
            <a:normAutofit fontScale="92500"/>
          </a:bodyPr>
          <a:lstStyle/>
          <a:p>
            <a:pPr marL="457200" indent="-457200">
              <a:buClr>
                <a:schemeClr val="tx1"/>
              </a:buClr>
              <a:buFont typeface="+mj-lt"/>
              <a:buAutoNum type="arabicPeriod"/>
            </a:pPr>
            <a:r>
              <a:rPr lang="en-US" sz="1800" dirty="0">
                <a:solidFill>
                  <a:schemeClr val="tx1"/>
                </a:solidFill>
              </a:rPr>
              <a:t>High concentration of channels in the Northern Hemisphere.</a:t>
            </a:r>
          </a:p>
          <a:p>
            <a:pPr marL="457200" indent="-457200">
              <a:buClr>
                <a:schemeClr val="tx1"/>
              </a:buClr>
              <a:buFont typeface="+mj-lt"/>
              <a:buAutoNum type="arabicPeriod"/>
            </a:pPr>
            <a:r>
              <a:rPr lang="en-US" sz="1800" dirty="0">
                <a:solidFill>
                  <a:schemeClr val="tx1"/>
                </a:solidFill>
              </a:rPr>
              <a:t>Clusters are visible across North America, Europe, South Asia, and East Asia, indicating these are major hubs for YouTube creators.</a:t>
            </a:r>
          </a:p>
          <a:p>
            <a:pPr marL="457200" indent="-457200">
              <a:buClr>
                <a:schemeClr val="tx1"/>
              </a:buClr>
              <a:buFont typeface="+mj-lt"/>
              <a:buAutoNum type="arabicPeriod"/>
            </a:pPr>
            <a:r>
              <a:rPr lang="en-US" sz="1800" dirty="0">
                <a:solidFill>
                  <a:schemeClr val="tx1"/>
                </a:solidFill>
              </a:rPr>
              <a:t>Sparse representation from Africa, Central Asia, and remote island regions, possibly due to limited access, infrastructure, or data availability.</a:t>
            </a:r>
          </a:p>
          <a:p>
            <a:pPr marL="457200" indent="-457200">
              <a:buClr>
                <a:schemeClr val="tx1"/>
              </a:buClr>
              <a:buFont typeface="+mj-lt"/>
              <a:buAutoNum type="arabicPeriod"/>
            </a:pPr>
            <a:r>
              <a:rPr lang="en-US" sz="1800" dirty="0">
                <a:solidFill>
                  <a:schemeClr val="tx1"/>
                </a:solidFill>
              </a:rPr>
              <a:t>Presence of channels in both developed and developing regions shows the democratization of content creation globally.</a:t>
            </a:r>
          </a:p>
        </p:txBody>
      </p:sp>
      <p:sp>
        <p:nvSpPr>
          <p:cNvPr id="7" name="Title 1">
            <a:extLst>
              <a:ext uri="{FF2B5EF4-FFF2-40B4-BE49-F238E27FC236}">
                <a16:creationId xmlns:a16="http://schemas.microsoft.com/office/drawing/2014/main" id="{FA32B045-768B-68FB-B1AD-2DADB906CCCE}"/>
              </a:ext>
            </a:extLst>
          </p:cNvPr>
          <p:cNvSpPr>
            <a:spLocks noGrp="1"/>
          </p:cNvSpPr>
          <p:nvPr>
            <p:ph type="title"/>
          </p:nvPr>
        </p:nvSpPr>
        <p:spPr>
          <a:xfrm>
            <a:off x="1097280" y="286603"/>
            <a:ext cx="10058400" cy="1450757"/>
          </a:xfrm>
        </p:spPr>
        <p:txBody>
          <a:bodyPr>
            <a:noAutofit/>
          </a:bodyPr>
          <a:lstStyle/>
          <a:p>
            <a:r>
              <a:rPr lang="en-US" sz="3600" dirty="0"/>
              <a:t>Patterns in the distribution of YouTube channels based on latitude and longitude</a:t>
            </a:r>
            <a:endParaRPr lang="en-US" sz="900" dirty="0"/>
          </a:p>
        </p:txBody>
      </p:sp>
      <p:pic>
        <p:nvPicPr>
          <p:cNvPr id="8" name="Content Placeholder 7">
            <a:extLst>
              <a:ext uri="{FF2B5EF4-FFF2-40B4-BE49-F238E27FC236}">
                <a16:creationId xmlns:a16="http://schemas.microsoft.com/office/drawing/2014/main" id="{DC96487A-2877-47A8-1D3E-5B94021BA53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4866" y="2120900"/>
            <a:ext cx="6176512" cy="3088256"/>
          </a:xfrm>
        </p:spPr>
      </p:pic>
    </p:spTree>
    <p:extLst>
      <p:ext uri="{BB962C8B-B14F-4D97-AF65-F5344CB8AC3E}">
        <p14:creationId xmlns:p14="http://schemas.microsoft.com/office/powerpoint/2010/main" val="586438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3DAC7-60F3-0711-F25E-CD2D9D03C4F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477B3E-0731-184D-CDA7-DF0B85B019C1}"/>
              </a:ext>
            </a:extLst>
          </p:cNvPr>
          <p:cNvSpPr>
            <a:spLocks noGrp="1"/>
          </p:cNvSpPr>
          <p:nvPr>
            <p:ph sz="half" idx="2"/>
          </p:nvPr>
        </p:nvSpPr>
        <p:spPr>
          <a:xfrm>
            <a:off x="6515944" y="2120900"/>
            <a:ext cx="4639736" cy="4064240"/>
          </a:xfrm>
        </p:spPr>
        <p:txBody>
          <a:bodyPr>
            <a:normAutofit fontScale="92500" lnSpcReduction="20000"/>
          </a:bodyPr>
          <a:lstStyle/>
          <a:p>
            <a:pPr marL="457200" indent="-457200">
              <a:buClr>
                <a:schemeClr val="tx1"/>
              </a:buClr>
              <a:buFont typeface="+mj-lt"/>
              <a:buAutoNum type="arabicPeriod"/>
            </a:pPr>
            <a:r>
              <a:rPr lang="en-US" sz="1800" dirty="0">
                <a:solidFill>
                  <a:schemeClr val="tx1"/>
                </a:solidFill>
              </a:rPr>
              <a:t>The scatter plot shows a moderate positive correlation (r = 0.51) between a country's population size and its total YouTube subscribers.</a:t>
            </a:r>
          </a:p>
          <a:p>
            <a:pPr marL="457200" indent="-457200">
              <a:buClr>
                <a:schemeClr val="tx1"/>
              </a:buClr>
              <a:buFont typeface="+mj-lt"/>
              <a:buAutoNum type="arabicPeriod"/>
            </a:pPr>
            <a:r>
              <a:rPr lang="en-US" sz="1800" dirty="0">
                <a:solidFill>
                  <a:schemeClr val="tx1"/>
                </a:solidFill>
              </a:rPr>
              <a:t>Some countries with medium-sized populations have a high subscriber base, indicating other factors like internet access, language reach, and content culture play a role</a:t>
            </a:r>
          </a:p>
          <a:p>
            <a:pPr marL="457200" indent="-457200">
              <a:buClr>
                <a:schemeClr val="tx1"/>
              </a:buClr>
              <a:buFont typeface="+mj-lt"/>
              <a:buAutoNum type="arabicPeriod"/>
            </a:pPr>
            <a:r>
              <a:rPr lang="en-US" sz="1800" dirty="0">
                <a:solidFill>
                  <a:schemeClr val="tx1"/>
                </a:solidFill>
              </a:rPr>
              <a:t>Some countries with medium-sized populations have a high subscriber base, indicating other factors like internet access, language reach, and content culture play a role</a:t>
            </a:r>
          </a:p>
        </p:txBody>
      </p:sp>
      <p:sp>
        <p:nvSpPr>
          <p:cNvPr id="7" name="Title 1">
            <a:extLst>
              <a:ext uri="{FF2B5EF4-FFF2-40B4-BE49-F238E27FC236}">
                <a16:creationId xmlns:a16="http://schemas.microsoft.com/office/drawing/2014/main" id="{83791185-1396-55F5-78F4-84D96D473FEC}"/>
              </a:ext>
            </a:extLst>
          </p:cNvPr>
          <p:cNvSpPr>
            <a:spLocks noGrp="1"/>
          </p:cNvSpPr>
          <p:nvPr>
            <p:ph type="title"/>
          </p:nvPr>
        </p:nvSpPr>
        <p:spPr>
          <a:xfrm>
            <a:off x="1097280" y="286603"/>
            <a:ext cx="10058400" cy="1450757"/>
          </a:xfrm>
        </p:spPr>
        <p:txBody>
          <a:bodyPr>
            <a:noAutofit/>
          </a:bodyPr>
          <a:lstStyle/>
          <a:p>
            <a:r>
              <a:rPr lang="en-US" sz="3600" dirty="0"/>
              <a:t>Correlation between the number of subscribers and the population of a country</a:t>
            </a:r>
            <a:endParaRPr lang="en-US" sz="600" dirty="0"/>
          </a:p>
        </p:txBody>
      </p:sp>
      <p:pic>
        <p:nvPicPr>
          <p:cNvPr id="6" name="Content Placeholder 5">
            <a:extLst>
              <a:ext uri="{FF2B5EF4-FFF2-40B4-BE49-F238E27FC236}">
                <a16:creationId xmlns:a16="http://schemas.microsoft.com/office/drawing/2014/main" id="{97E076F0-EBAE-7D87-40A4-A4DD04DBC29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8797" y="2120900"/>
            <a:ext cx="6069240" cy="3641544"/>
          </a:xfrm>
        </p:spPr>
      </p:pic>
    </p:spTree>
    <p:extLst>
      <p:ext uri="{BB962C8B-B14F-4D97-AF65-F5344CB8AC3E}">
        <p14:creationId xmlns:p14="http://schemas.microsoft.com/office/powerpoint/2010/main" val="539337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BC22-1957-12BA-6B36-FC1889493E5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5CFA0AD-D1EA-153E-CFBA-D79928FFC2C2}"/>
              </a:ext>
            </a:extLst>
          </p:cNvPr>
          <p:cNvSpPr>
            <a:spLocks noGrp="1"/>
          </p:cNvSpPr>
          <p:nvPr>
            <p:ph sz="half" idx="2"/>
          </p:nvPr>
        </p:nvSpPr>
        <p:spPr>
          <a:xfrm>
            <a:off x="6515944" y="2120900"/>
            <a:ext cx="4639736" cy="4064240"/>
          </a:xfrm>
        </p:spPr>
        <p:txBody>
          <a:bodyPr>
            <a:normAutofit/>
          </a:bodyPr>
          <a:lstStyle/>
          <a:p>
            <a:pPr marL="457200" indent="-457200">
              <a:buClr>
                <a:schemeClr val="tx1"/>
              </a:buClr>
              <a:buFont typeface="+mj-lt"/>
              <a:buAutoNum type="arabicPeriod"/>
            </a:pPr>
            <a:r>
              <a:rPr lang="en-US" sz="1800" dirty="0"/>
              <a:t>The </a:t>
            </a:r>
            <a:r>
              <a:rPr lang="en-US" sz="1800" b="1" dirty="0"/>
              <a:t>United States</a:t>
            </a:r>
            <a:r>
              <a:rPr lang="en-US" sz="1800" dirty="0"/>
              <a:t> clearly leads by a significant margin in the number of YouTube channels</a:t>
            </a:r>
          </a:p>
          <a:p>
            <a:pPr marL="457200" indent="-457200">
              <a:buClr>
                <a:schemeClr val="tx1"/>
              </a:buClr>
              <a:buFont typeface="+mj-lt"/>
              <a:buAutoNum type="arabicPeriod"/>
            </a:pPr>
            <a:r>
              <a:rPr lang="en-US" sz="1800" dirty="0">
                <a:solidFill>
                  <a:schemeClr val="tx1"/>
                </a:solidFill>
              </a:rPr>
              <a:t>India has the highest population compared to all the other countries but still has significantly lower channels than the United States indicating that a higher population does not always equate to a higher channel count</a:t>
            </a:r>
          </a:p>
          <a:p>
            <a:pPr marL="457200" indent="-457200">
              <a:buClr>
                <a:schemeClr val="tx1"/>
              </a:buClr>
              <a:buFont typeface="+mj-lt"/>
              <a:buAutoNum type="arabicPeriod"/>
            </a:pPr>
            <a:r>
              <a:rPr lang="en-US" sz="1800" dirty="0">
                <a:solidFill>
                  <a:schemeClr val="tx1"/>
                </a:solidFill>
              </a:rPr>
              <a:t>Many different factors such as economic development, internet availability and digital literacy.</a:t>
            </a:r>
          </a:p>
        </p:txBody>
      </p:sp>
      <p:sp>
        <p:nvSpPr>
          <p:cNvPr id="7" name="Title 1">
            <a:extLst>
              <a:ext uri="{FF2B5EF4-FFF2-40B4-BE49-F238E27FC236}">
                <a16:creationId xmlns:a16="http://schemas.microsoft.com/office/drawing/2014/main" id="{2F751C92-4840-A7FC-3744-9D43CD0D1113}"/>
              </a:ext>
            </a:extLst>
          </p:cNvPr>
          <p:cNvSpPr>
            <a:spLocks noGrp="1"/>
          </p:cNvSpPr>
          <p:nvPr>
            <p:ph type="title"/>
          </p:nvPr>
        </p:nvSpPr>
        <p:spPr>
          <a:xfrm>
            <a:off x="1097280" y="286603"/>
            <a:ext cx="10058400" cy="1450757"/>
          </a:xfrm>
        </p:spPr>
        <p:txBody>
          <a:bodyPr>
            <a:noAutofit/>
          </a:bodyPr>
          <a:lstStyle/>
          <a:p>
            <a:r>
              <a:rPr lang="en-US" sz="3600" dirty="0"/>
              <a:t>Comparison of Top 10 countries with YouTube channels in terms of population</a:t>
            </a:r>
            <a:endParaRPr lang="en-US" sz="600" dirty="0"/>
          </a:p>
        </p:txBody>
      </p:sp>
      <p:pic>
        <p:nvPicPr>
          <p:cNvPr id="13" name="Content Placeholder 12">
            <a:extLst>
              <a:ext uri="{FF2B5EF4-FFF2-40B4-BE49-F238E27FC236}">
                <a16:creationId xmlns:a16="http://schemas.microsoft.com/office/drawing/2014/main" id="{7322ED4A-1A39-511E-B3C7-BBB7A668D8E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71735" y="2120900"/>
            <a:ext cx="6228785" cy="3329796"/>
          </a:xfrm>
        </p:spPr>
      </p:pic>
    </p:spTree>
    <p:extLst>
      <p:ext uri="{BB962C8B-B14F-4D97-AF65-F5344CB8AC3E}">
        <p14:creationId xmlns:p14="http://schemas.microsoft.com/office/powerpoint/2010/main" val="2172313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B31-5A32-2915-EBE1-0137031CEDD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8CAA636-15DD-01CA-4CC0-F1FBFF4B0D99}"/>
              </a:ext>
            </a:extLst>
          </p:cNvPr>
          <p:cNvSpPr>
            <a:spLocks noGrp="1"/>
          </p:cNvSpPr>
          <p:nvPr>
            <p:ph sz="half" idx="2"/>
          </p:nvPr>
        </p:nvSpPr>
        <p:spPr>
          <a:xfrm>
            <a:off x="6515944" y="2120900"/>
            <a:ext cx="4639736" cy="4064240"/>
          </a:xfrm>
        </p:spPr>
        <p:txBody>
          <a:bodyPr>
            <a:normAutofit/>
          </a:bodyPr>
          <a:lstStyle/>
          <a:p>
            <a:pPr marL="457200" indent="-457200">
              <a:buClr>
                <a:schemeClr val="tx1"/>
              </a:buClr>
              <a:buFont typeface="+mj-lt"/>
              <a:buAutoNum type="arabicPeriod"/>
            </a:pPr>
            <a:r>
              <a:rPr lang="en-US" sz="1800" dirty="0">
                <a:solidFill>
                  <a:schemeClr val="tx1"/>
                </a:solidFill>
              </a:rPr>
              <a:t>The Pearson correlation coefficient of -0.06 indicates a very weak, almost negligible negative linear correlation between the unemployment rate and average subscribers gained.</a:t>
            </a:r>
          </a:p>
          <a:p>
            <a:pPr marL="457200" indent="-457200">
              <a:buClr>
                <a:schemeClr val="tx1"/>
              </a:buClr>
              <a:buFont typeface="+mj-lt"/>
              <a:buAutoNum type="arabicPeriod"/>
            </a:pPr>
            <a:r>
              <a:rPr lang="en-US" sz="1800" dirty="0">
                <a:solidFill>
                  <a:schemeClr val="tx1"/>
                </a:solidFill>
              </a:rPr>
              <a:t>The data points are widely scattered, confirming that there isn't a clear upward or downward trend. You cannot predict subscriber gains based on the unemployment rate (or vice versa) from this data.</a:t>
            </a:r>
          </a:p>
        </p:txBody>
      </p:sp>
      <p:sp>
        <p:nvSpPr>
          <p:cNvPr id="7" name="Title 1">
            <a:extLst>
              <a:ext uri="{FF2B5EF4-FFF2-40B4-BE49-F238E27FC236}">
                <a16:creationId xmlns:a16="http://schemas.microsoft.com/office/drawing/2014/main" id="{BE9157C8-40C4-5F3E-1BE9-0EE4CE89F32E}"/>
              </a:ext>
            </a:extLst>
          </p:cNvPr>
          <p:cNvSpPr>
            <a:spLocks noGrp="1"/>
          </p:cNvSpPr>
          <p:nvPr>
            <p:ph type="title"/>
          </p:nvPr>
        </p:nvSpPr>
        <p:spPr>
          <a:xfrm>
            <a:off x="1097280" y="286603"/>
            <a:ext cx="10058400" cy="1450757"/>
          </a:xfrm>
        </p:spPr>
        <p:txBody>
          <a:bodyPr>
            <a:noAutofit/>
          </a:bodyPr>
          <a:lstStyle/>
          <a:p>
            <a:r>
              <a:rPr lang="en-US" sz="3600" dirty="0"/>
              <a:t>Correlation between subscribers gained in the last 30 days and unemployment rate in a country</a:t>
            </a:r>
            <a:endParaRPr lang="en-US" sz="300" dirty="0"/>
          </a:p>
        </p:txBody>
      </p:sp>
      <p:pic>
        <p:nvPicPr>
          <p:cNvPr id="6" name="Content Placeholder 5">
            <a:extLst>
              <a:ext uri="{FF2B5EF4-FFF2-40B4-BE49-F238E27FC236}">
                <a16:creationId xmlns:a16="http://schemas.microsoft.com/office/drawing/2014/main" id="{2DD63266-AFC3-860A-B1B9-EADCE94821F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93688" y="2120900"/>
            <a:ext cx="6141129" cy="3684677"/>
          </a:xfrm>
        </p:spPr>
      </p:pic>
    </p:spTree>
    <p:extLst>
      <p:ext uri="{BB962C8B-B14F-4D97-AF65-F5344CB8AC3E}">
        <p14:creationId xmlns:p14="http://schemas.microsoft.com/office/powerpoint/2010/main" val="193809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570AE-C226-AD5C-F62D-7669C1F4012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9619662-D4E3-A06B-3C06-1C9CD3EDDB4D}"/>
              </a:ext>
            </a:extLst>
          </p:cNvPr>
          <p:cNvSpPr>
            <a:spLocks noGrp="1"/>
          </p:cNvSpPr>
          <p:nvPr>
            <p:ph sz="half" idx="2"/>
          </p:nvPr>
        </p:nvSpPr>
        <p:spPr>
          <a:xfrm>
            <a:off x="6515944" y="2120900"/>
            <a:ext cx="4639736" cy="4064240"/>
          </a:xfrm>
        </p:spPr>
        <p:txBody>
          <a:bodyPr>
            <a:normAutofit/>
          </a:bodyPr>
          <a:lstStyle/>
          <a:p>
            <a:pPr marL="457200" indent="-457200">
              <a:buClr>
                <a:schemeClr val="tx1"/>
              </a:buClr>
              <a:buFont typeface="+mj-lt"/>
              <a:buAutoNum type="arabicPeriod"/>
            </a:pPr>
            <a:r>
              <a:rPr lang="en-US" sz="1800" dirty="0">
                <a:solidFill>
                  <a:schemeClr val="tx1"/>
                </a:solidFill>
              </a:rPr>
              <a:t>The "Animals" channel type has an extremely low channel count, but has the highest average views by far (over 700 million).</a:t>
            </a:r>
          </a:p>
          <a:p>
            <a:pPr marL="457200" indent="-457200">
              <a:buClr>
                <a:schemeClr val="tx1"/>
              </a:buClr>
              <a:buFont typeface="+mj-lt"/>
              <a:buAutoNum type="arabicPeriod"/>
            </a:pPr>
            <a:r>
              <a:rPr lang="en-US" sz="1800" dirty="0">
                <a:solidFill>
                  <a:schemeClr val="tx1"/>
                </a:solidFill>
              </a:rPr>
              <a:t>Categories like Sports, Education, Comedy and News have lower channel counts but significantly higher views (approx. 200 million)</a:t>
            </a:r>
          </a:p>
          <a:p>
            <a:pPr marL="457200" indent="-457200">
              <a:buClr>
                <a:schemeClr val="tx1"/>
              </a:buClr>
              <a:buFont typeface="+mj-lt"/>
              <a:buAutoNum type="arabicPeriod"/>
            </a:pPr>
            <a:r>
              <a:rPr lang="en-US" sz="1800" dirty="0">
                <a:solidFill>
                  <a:schemeClr val="tx1"/>
                </a:solidFill>
              </a:rPr>
              <a:t>Based on the graph, there isn't a direct correlation where a higher channel count automatically means higher average views.</a:t>
            </a:r>
          </a:p>
        </p:txBody>
      </p:sp>
      <p:sp>
        <p:nvSpPr>
          <p:cNvPr id="7" name="Title 1">
            <a:extLst>
              <a:ext uri="{FF2B5EF4-FFF2-40B4-BE49-F238E27FC236}">
                <a16:creationId xmlns:a16="http://schemas.microsoft.com/office/drawing/2014/main" id="{1B4ED4F9-9FEE-7707-A5CE-FACBFAB62426}"/>
              </a:ext>
            </a:extLst>
          </p:cNvPr>
          <p:cNvSpPr>
            <a:spLocks noGrp="1"/>
          </p:cNvSpPr>
          <p:nvPr>
            <p:ph type="title"/>
          </p:nvPr>
        </p:nvSpPr>
        <p:spPr>
          <a:xfrm>
            <a:off x="1097280" y="286603"/>
            <a:ext cx="10058400" cy="1450757"/>
          </a:xfrm>
        </p:spPr>
        <p:txBody>
          <a:bodyPr>
            <a:noAutofit/>
          </a:bodyPr>
          <a:lstStyle/>
          <a:p>
            <a:r>
              <a:rPr lang="en-US" sz="3600" dirty="0"/>
              <a:t>Distribution of views for the last 30 days across different channel types</a:t>
            </a:r>
            <a:endParaRPr lang="en-US" sz="100" dirty="0"/>
          </a:p>
        </p:txBody>
      </p:sp>
      <p:pic>
        <p:nvPicPr>
          <p:cNvPr id="8" name="Content Placeholder 7">
            <a:extLst>
              <a:ext uri="{FF2B5EF4-FFF2-40B4-BE49-F238E27FC236}">
                <a16:creationId xmlns:a16="http://schemas.microsoft.com/office/drawing/2014/main" id="{A5E6D381-EF79-4EC7-EB46-4DC56CBEFF1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1999" y="2120901"/>
            <a:ext cx="6303945" cy="3382752"/>
          </a:xfrm>
        </p:spPr>
      </p:pic>
    </p:spTree>
    <p:extLst>
      <p:ext uri="{BB962C8B-B14F-4D97-AF65-F5344CB8AC3E}">
        <p14:creationId xmlns:p14="http://schemas.microsoft.com/office/powerpoint/2010/main" val="1330799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6F251-98C9-4082-9B72-638C2261021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F84E08A-5887-428D-E56A-5EFAAC7711C8}"/>
              </a:ext>
            </a:extLst>
          </p:cNvPr>
          <p:cNvSpPr>
            <a:spLocks noGrp="1"/>
          </p:cNvSpPr>
          <p:nvPr>
            <p:ph sz="half" idx="2"/>
          </p:nvPr>
        </p:nvSpPr>
        <p:spPr>
          <a:xfrm>
            <a:off x="6515944" y="2120900"/>
            <a:ext cx="4639736" cy="4064240"/>
          </a:xfrm>
        </p:spPr>
        <p:txBody>
          <a:bodyPr>
            <a:normAutofit/>
          </a:bodyPr>
          <a:lstStyle/>
          <a:p>
            <a:pPr marL="457200" indent="-457200">
              <a:buClr>
                <a:schemeClr val="tx1"/>
              </a:buClr>
              <a:buFont typeface="+mj-lt"/>
              <a:buAutoNum type="arabicPeriod"/>
            </a:pPr>
            <a:r>
              <a:rPr lang="en-US" sz="1800" dirty="0">
                <a:solidFill>
                  <a:schemeClr val="tx1"/>
                </a:solidFill>
              </a:rPr>
              <a:t>The "Animals" channel type has an extremely low channel count, but has the highest average views by far (over 700 million).</a:t>
            </a:r>
          </a:p>
          <a:p>
            <a:pPr marL="457200" indent="-457200">
              <a:buClr>
                <a:schemeClr val="tx1"/>
              </a:buClr>
              <a:buFont typeface="+mj-lt"/>
              <a:buAutoNum type="arabicPeriod"/>
            </a:pPr>
            <a:r>
              <a:rPr lang="en-US" sz="1800" dirty="0">
                <a:solidFill>
                  <a:schemeClr val="tx1"/>
                </a:solidFill>
              </a:rPr>
              <a:t>Categories like Sports, Education, Comedy and News have lower channel counts but significantly higher views (approx. 200 million)</a:t>
            </a:r>
          </a:p>
          <a:p>
            <a:pPr marL="457200" indent="-457200">
              <a:buClr>
                <a:schemeClr val="tx1"/>
              </a:buClr>
              <a:buFont typeface="+mj-lt"/>
              <a:buAutoNum type="arabicPeriod"/>
            </a:pPr>
            <a:r>
              <a:rPr lang="en-US" sz="1800" dirty="0">
                <a:solidFill>
                  <a:schemeClr val="tx1"/>
                </a:solidFill>
              </a:rPr>
              <a:t>Based on the graph, there isn't a direct correlation where a higher channel count automatically means higher average views.</a:t>
            </a:r>
          </a:p>
        </p:txBody>
      </p:sp>
      <p:sp>
        <p:nvSpPr>
          <p:cNvPr id="7" name="Title 1">
            <a:extLst>
              <a:ext uri="{FF2B5EF4-FFF2-40B4-BE49-F238E27FC236}">
                <a16:creationId xmlns:a16="http://schemas.microsoft.com/office/drawing/2014/main" id="{516228BD-2E86-DB7A-B943-C5DBE85D632C}"/>
              </a:ext>
            </a:extLst>
          </p:cNvPr>
          <p:cNvSpPr>
            <a:spLocks noGrp="1"/>
          </p:cNvSpPr>
          <p:nvPr>
            <p:ph type="title"/>
          </p:nvPr>
        </p:nvSpPr>
        <p:spPr>
          <a:xfrm>
            <a:off x="1097280" y="286603"/>
            <a:ext cx="10058400" cy="1450757"/>
          </a:xfrm>
        </p:spPr>
        <p:txBody>
          <a:bodyPr>
            <a:noAutofit/>
          </a:bodyPr>
          <a:lstStyle/>
          <a:p>
            <a:r>
              <a:rPr lang="en-US" sz="3600" dirty="0"/>
              <a:t>Distribution of views for the last 30 days across different channel types</a:t>
            </a:r>
            <a:endParaRPr lang="en-US" sz="100" dirty="0"/>
          </a:p>
        </p:txBody>
      </p:sp>
      <p:pic>
        <p:nvPicPr>
          <p:cNvPr id="8" name="Content Placeholder 7">
            <a:extLst>
              <a:ext uri="{FF2B5EF4-FFF2-40B4-BE49-F238E27FC236}">
                <a16:creationId xmlns:a16="http://schemas.microsoft.com/office/drawing/2014/main" id="{743F573F-49D9-11C2-0238-B7AE2E1CD3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1999" y="2120901"/>
            <a:ext cx="6303945" cy="3382752"/>
          </a:xfrm>
        </p:spPr>
      </p:pic>
    </p:spTree>
    <p:extLst>
      <p:ext uri="{BB962C8B-B14F-4D97-AF65-F5344CB8AC3E}">
        <p14:creationId xmlns:p14="http://schemas.microsoft.com/office/powerpoint/2010/main" val="594235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A173-6583-F7C0-A20F-065281A4AAC1}"/>
              </a:ext>
            </a:extLst>
          </p:cNvPr>
          <p:cNvSpPr>
            <a:spLocks noGrp="1"/>
          </p:cNvSpPr>
          <p:nvPr>
            <p:ph type="title"/>
          </p:nvPr>
        </p:nvSpPr>
        <p:spPr/>
        <p:txBody>
          <a:bodyPr>
            <a:normAutofit fontScale="90000"/>
          </a:bodyPr>
          <a:lstStyle/>
          <a:p>
            <a:r>
              <a:rPr lang="en-US" sz="4000" dirty="0"/>
              <a:t>Are there any seasonal trends in the number of videos uploaded by YouTube channels?</a:t>
            </a:r>
            <a:endParaRPr lang="en-US" dirty="0"/>
          </a:p>
        </p:txBody>
      </p:sp>
      <p:sp>
        <p:nvSpPr>
          <p:cNvPr id="3" name="Content Placeholder 2">
            <a:extLst>
              <a:ext uri="{FF2B5EF4-FFF2-40B4-BE49-F238E27FC236}">
                <a16:creationId xmlns:a16="http://schemas.microsoft.com/office/drawing/2014/main" id="{8B3E53B3-0C48-135C-C4B4-44483AC5E8E1}"/>
              </a:ext>
            </a:extLst>
          </p:cNvPr>
          <p:cNvSpPr>
            <a:spLocks noGrp="1"/>
          </p:cNvSpPr>
          <p:nvPr>
            <p:ph idx="1"/>
          </p:nvPr>
        </p:nvSpPr>
        <p:spPr>
          <a:xfrm>
            <a:off x="1097280" y="2496390"/>
            <a:ext cx="10058400" cy="3760891"/>
          </a:xfrm>
        </p:spPr>
        <p:txBody>
          <a:bodyPr>
            <a:normAutofit/>
          </a:bodyPr>
          <a:lstStyle/>
          <a:p>
            <a:r>
              <a:rPr lang="en-US" sz="2400" dirty="0">
                <a:solidFill>
                  <a:schemeClr val="tx1"/>
                </a:solidFill>
              </a:rPr>
              <a:t>We cannot indicate any particular trends in terms of seasons since there is not enough data available to display/calculate any trends</a:t>
            </a:r>
          </a:p>
        </p:txBody>
      </p:sp>
    </p:spTree>
    <p:extLst>
      <p:ext uri="{BB962C8B-B14F-4D97-AF65-F5344CB8AC3E}">
        <p14:creationId xmlns:p14="http://schemas.microsoft.com/office/powerpoint/2010/main" val="1035749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2FE93-9267-EA97-B86F-64B28A85E2C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83D0324-1B22-1EF8-E74E-FD7C8B437D74}"/>
              </a:ext>
            </a:extLst>
          </p:cNvPr>
          <p:cNvSpPr>
            <a:spLocks noGrp="1"/>
          </p:cNvSpPr>
          <p:nvPr>
            <p:ph sz="half" idx="2"/>
          </p:nvPr>
        </p:nvSpPr>
        <p:spPr>
          <a:xfrm>
            <a:off x="6515944" y="2120900"/>
            <a:ext cx="4639736" cy="4064240"/>
          </a:xfrm>
        </p:spPr>
        <p:txBody>
          <a:bodyPr>
            <a:normAutofit/>
          </a:bodyPr>
          <a:lstStyle/>
          <a:p>
            <a:pPr marL="457200" indent="-457200">
              <a:buClr>
                <a:schemeClr val="tx1"/>
              </a:buClr>
              <a:buFont typeface="+mj-lt"/>
              <a:buAutoNum type="arabicPeriod"/>
            </a:pPr>
            <a:r>
              <a:rPr lang="en-US" sz="1800" b="1" dirty="0"/>
              <a:t>High Variability:</a:t>
            </a:r>
            <a:r>
              <a:rPr lang="en-US" sz="1800" dirty="0"/>
              <a:t> There's a wide range in subscriber gains, from very few to over 1.2 million per month, highlighting the diverse performance of channels.</a:t>
            </a:r>
          </a:p>
          <a:p>
            <a:pPr marL="457200" indent="-457200">
              <a:buClr>
                <a:schemeClr val="tx1"/>
              </a:buClr>
              <a:buFont typeface="+mj-lt"/>
              <a:buAutoNum type="arabicPeriod"/>
            </a:pPr>
            <a:r>
              <a:rPr lang="en-US" sz="1800" dirty="0"/>
              <a:t>The average subscriber gain is approximately 177,471. The average is pulled up by a few high-performing channels.</a:t>
            </a:r>
          </a:p>
          <a:p>
            <a:pPr marL="457200" indent="-457200">
              <a:buClr>
                <a:schemeClr val="tx1"/>
              </a:buClr>
              <a:buFont typeface="+mj-lt"/>
              <a:buAutoNum type="arabicPeriod"/>
            </a:pPr>
            <a:endParaRPr lang="en-US" sz="1800" dirty="0">
              <a:solidFill>
                <a:schemeClr val="tx1"/>
              </a:solidFill>
            </a:endParaRPr>
          </a:p>
        </p:txBody>
      </p:sp>
      <p:sp>
        <p:nvSpPr>
          <p:cNvPr id="7" name="Title 1">
            <a:extLst>
              <a:ext uri="{FF2B5EF4-FFF2-40B4-BE49-F238E27FC236}">
                <a16:creationId xmlns:a16="http://schemas.microsoft.com/office/drawing/2014/main" id="{6E7D1CB2-5885-EF2D-D9B8-22EEA33C2321}"/>
              </a:ext>
            </a:extLst>
          </p:cNvPr>
          <p:cNvSpPr>
            <a:spLocks noGrp="1"/>
          </p:cNvSpPr>
          <p:nvPr>
            <p:ph type="title"/>
          </p:nvPr>
        </p:nvSpPr>
        <p:spPr>
          <a:xfrm>
            <a:off x="1097280" y="286603"/>
            <a:ext cx="10058400" cy="1450757"/>
          </a:xfrm>
        </p:spPr>
        <p:txBody>
          <a:bodyPr>
            <a:noAutofit/>
          </a:bodyPr>
          <a:lstStyle/>
          <a:p>
            <a:r>
              <a:rPr lang="en-US" sz="3600" dirty="0"/>
              <a:t>Average number of subscribers gained per month since the creation of YouTube channels </a:t>
            </a:r>
            <a:endParaRPr lang="en-US" sz="100" dirty="0"/>
          </a:p>
        </p:txBody>
      </p:sp>
      <p:pic>
        <p:nvPicPr>
          <p:cNvPr id="6" name="Content Placeholder 5">
            <a:extLst>
              <a:ext uri="{FF2B5EF4-FFF2-40B4-BE49-F238E27FC236}">
                <a16:creationId xmlns:a16="http://schemas.microsoft.com/office/drawing/2014/main" id="{89E69A8A-AADF-71EE-5757-FD9DB059317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80432" y="2182483"/>
            <a:ext cx="6220972" cy="3614468"/>
          </a:xfrm>
        </p:spPr>
      </p:pic>
    </p:spTree>
    <p:extLst>
      <p:ext uri="{BB962C8B-B14F-4D97-AF65-F5344CB8AC3E}">
        <p14:creationId xmlns:p14="http://schemas.microsoft.com/office/powerpoint/2010/main" val="389256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D1F2-CF6D-75C7-2A67-347C03C70561}"/>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1423343565"/>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{C7B81932-BE6F-49C1-B2A1-E50015FCDEF9}TFf0a5ceae-4542-492d-822e-d65a94fb0e1e2a8bfc10_win32-70e309b38cd8</Template>
  <TotalTime>212</TotalTime>
  <Words>1419</Words>
  <Application>Microsoft Office PowerPoint</Application>
  <PresentationFormat>Widescreen</PresentationFormat>
  <Paragraphs>203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Bookman Old Style</vt:lpstr>
      <vt:lpstr>Calibri</vt:lpstr>
      <vt:lpstr>Franklin Gothic Book</vt:lpstr>
      <vt:lpstr>Custom</vt:lpstr>
      <vt:lpstr>YouTube Statistics Analysis</vt:lpstr>
      <vt:lpstr>Top 10 YouTube channels based on the number of subscribers</vt:lpstr>
      <vt:lpstr>Category which has the highest average number of subscribers</vt:lpstr>
      <vt:lpstr>Average number of videos uploaded by YouTube channels in each category?</vt:lpstr>
      <vt:lpstr>Top 5 countries with the highest number of YouTube channels</vt:lpstr>
      <vt:lpstr>The distribution of channel types across different categories</vt:lpstr>
      <vt:lpstr>Correlation between subscribers and total views for YouTube channels</vt:lpstr>
      <vt:lpstr>Monthly earnings throughout different categories</vt:lpstr>
      <vt:lpstr>Overall trend in subscribers gained over the last 30 days across all channels</vt:lpstr>
      <vt:lpstr>Outliers in terms of yearly earnings from YouTube channels</vt:lpstr>
      <vt:lpstr>Distribution of channel creation dates and trends over time</vt:lpstr>
      <vt:lpstr>Relationship between gross tertiary education enrollment and the number of YouTube channels</vt:lpstr>
      <vt:lpstr>Unemployment rate among top 10 countries with the highest number of channels</vt:lpstr>
      <vt:lpstr>Average urban population percentage in countries with YouTube channels</vt:lpstr>
      <vt:lpstr>Patterns in the distribution of YouTube channels based on latitude and longitude</vt:lpstr>
      <vt:lpstr>Correlation between the number of subscribers and the population of a country</vt:lpstr>
      <vt:lpstr>Comparison of Top 10 countries with YouTube channels in terms of population</vt:lpstr>
      <vt:lpstr>Correlation between subscribers gained in the last 30 days and unemployment rate in a country</vt:lpstr>
      <vt:lpstr>Distribution of views for the last 30 days across different channel types</vt:lpstr>
      <vt:lpstr>Distribution of views for the last 30 days across different channel types</vt:lpstr>
      <vt:lpstr>Are there any seasonal trends in the number of videos uploaded by YouTube channels?</vt:lpstr>
      <vt:lpstr>Average number of subscribers gained per month since the creation of YouTube channels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Ayaz Jamani</dc:creator>
  <cp:lastModifiedBy>Ayaz Jamani</cp:lastModifiedBy>
  <cp:revision>4</cp:revision>
  <dcterms:created xsi:type="dcterms:W3CDTF">2025-06-23T04:28:24Z</dcterms:created>
  <dcterms:modified xsi:type="dcterms:W3CDTF">2025-06-23T14:51:39Z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